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71" r:id="rId4"/>
    <p:sldId id="258" r:id="rId5"/>
    <p:sldId id="259" r:id="rId6"/>
    <p:sldId id="260" r:id="rId7"/>
    <p:sldId id="272" r:id="rId8"/>
    <p:sldId id="261" r:id="rId9"/>
    <p:sldId id="262" r:id="rId10"/>
    <p:sldId id="270" r:id="rId11"/>
    <p:sldId id="263" r:id="rId12"/>
    <p:sldId id="264" r:id="rId13"/>
    <p:sldId id="265" r:id="rId14"/>
    <p:sldId id="266" r:id="rId15"/>
    <p:sldId id="267" r:id="rId16"/>
    <p:sldId id="268" r:id="rId17"/>
    <p:sldId id="269" r:id="rId18"/>
  </p:sldIdLst>
  <p:sldSz cx="18288000" cy="10287000"/>
  <p:notesSz cx="6858000" cy="9144000"/>
  <p:embeddedFontLst>
    <p:embeddedFont>
      <p:font typeface="Times" panose="02020603050405020304" pitchFamily="18" charset="0"/>
      <p:regular r:id="rId20"/>
      <p:bold r:id="rId21"/>
      <p:italic r:id="rId22"/>
      <p:boldItalic r:id="rId23"/>
    </p:embeddedFont>
    <p:embeddedFont>
      <p:font typeface="Bricolage Grotesque" panose="020B0604020202020204" charset="0"/>
      <p:bold r:id="rId24"/>
    </p:embeddedFont>
    <p:embeddedFont>
      <p:font typeface="Calibri" panose="020F0502020204030204" pitchFamily="34" charset="0"/>
      <p:regular r:id="rId25"/>
      <p:bold r:id="rId26"/>
      <p:italic r:id="rId27"/>
      <p:boldItalic r:id="rId28"/>
    </p:embeddedFont>
    <p:embeddedFont>
      <p:font typeface="Bricolage Grotesque SemiBold" panose="020B0604020202020204"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jIag3UzWnSG1OqD8DEzcqGxpMF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610" y="3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4945220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7200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5807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 xmlns:a16="http://schemas.microsoft.com/office/drawing/2014/main" id="{0889EDEB-01E5-C2E8-5E55-E8F379739A09}"/>
            </a:ext>
          </a:extLst>
        </p:cNvPr>
        <p:cNvGrpSpPr/>
        <p:nvPr/>
      </p:nvGrpSpPr>
      <p:grpSpPr>
        <a:xfrm>
          <a:off x="0" y="0"/>
          <a:ext cx="0" cy="0"/>
          <a:chOff x="0" y="0"/>
          <a:chExt cx="0" cy="0"/>
        </a:xfrm>
      </p:grpSpPr>
      <p:sp>
        <p:nvSpPr>
          <p:cNvPr id="123" name="Google Shape;123;p3:notes">
            <a:extLst>
              <a:ext uri="{FF2B5EF4-FFF2-40B4-BE49-F238E27FC236}">
                <a16:creationId xmlns="" xmlns:a16="http://schemas.microsoft.com/office/drawing/2014/main" id="{B66468B0-2914-6659-2889-3C07275E1D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3:notes">
            <a:extLst>
              <a:ext uri="{FF2B5EF4-FFF2-40B4-BE49-F238E27FC236}">
                <a16:creationId xmlns="" xmlns:a16="http://schemas.microsoft.com/office/drawing/2014/main" id="{4567301E-BD33-7FB6-11A1-5C02820EFF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7093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5635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2526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1769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7393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4310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8774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a:extLst>
            <a:ext uri="{FF2B5EF4-FFF2-40B4-BE49-F238E27FC236}">
              <a16:creationId xmlns="" xmlns:a16="http://schemas.microsoft.com/office/drawing/2014/main" id="{3D464F0F-833C-97AD-A309-E88B2596634D}"/>
            </a:ext>
          </a:extLst>
        </p:cNvPr>
        <p:cNvGrpSpPr/>
        <p:nvPr/>
      </p:nvGrpSpPr>
      <p:grpSpPr>
        <a:xfrm>
          <a:off x="0" y="0"/>
          <a:ext cx="0" cy="0"/>
          <a:chOff x="0" y="0"/>
          <a:chExt cx="0" cy="0"/>
        </a:xfrm>
      </p:grpSpPr>
      <p:sp>
        <p:nvSpPr>
          <p:cNvPr id="250" name="Google Shape;250;p9:notes">
            <a:extLst>
              <a:ext uri="{FF2B5EF4-FFF2-40B4-BE49-F238E27FC236}">
                <a16:creationId xmlns="" xmlns:a16="http://schemas.microsoft.com/office/drawing/2014/main" id="{6F03DB97-0C4E-8F55-57FC-070BD11FE4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9:notes">
            <a:extLst>
              <a:ext uri="{FF2B5EF4-FFF2-40B4-BE49-F238E27FC236}">
                <a16:creationId xmlns="" xmlns:a16="http://schemas.microsoft.com/office/drawing/2014/main" id="{D1416F29-9535-FD7A-04BD-E5FE608C65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4750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43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33895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8680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54015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2548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2142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2153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1792288" y="612775"/>
            <a:ext cx="5486400" cy="4114800"/>
          </a:xfrm>
          <a:prstGeom prst="rect">
            <a:avLst/>
          </a:prstGeom>
          <a:noFill/>
          <a:ln>
            <a:noFill/>
          </a:ln>
        </p:spPr>
      </p:sp>
      <p:sp>
        <p:nvSpPr>
          <p:cNvPr id="64" name="Google Shape;64;p2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9.jpg"/><Relationship Id="rId4" Type="http://schemas.openxmlformats.org/officeDocument/2006/relationships/image" Target="../media/image28.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drive.google.com/file/d/1Ws44X9cS4hBiXbP0O4oVgGcgZFXy_fbF/view?usp=drivesdk"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F4A"/>
        </a:solidFill>
        <a:effectLst/>
      </p:bgPr>
    </p:bg>
    <p:spTree>
      <p:nvGrpSpPr>
        <p:cNvPr id="1" name="Shape 83"/>
        <p:cNvGrpSpPr/>
        <p:nvPr/>
      </p:nvGrpSpPr>
      <p:grpSpPr>
        <a:xfrm>
          <a:off x="0" y="0"/>
          <a:ext cx="0" cy="0"/>
          <a:chOff x="0" y="0"/>
          <a:chExt cx="0" cy="0"/>
        </a:xfrm>
      </p:grpSpPr>
      <p:sp>
        <p:nvSpPr>
          <p:cNvPr id="93" name="Google Shape;93;p1"/>
          <p:cNvSpPr/>
          <p:nvPr/>
        </p:nvSpPr>
        <p:spPr>
          <a:xfrm>
            <a:off x="12768943" y="3086100"/>
            <a:ext cx="4490357" cy="4114800"/>
          </a:xfrm>
          <a:custGeom>
            <a:avLst/>
            <a:gdLst/>
            <a:ahLst/>
            <a:cxnLst/>
            <a:rect l="l" t="t" r="r" b="b"/>
            <a:pathLst>
              <a:path w="4490357" h="4114800" extrusionOk="0">
                <a:moveTo>
                  <a:pt x="0" y="0"/>
                </a:moveTo>
                <a:lnTo>
                  <a:pt x="4490357" y="0"/>
                </a:lnTo>
                <a:lnTo>
                  <a:pt x="4490357" y="4114800"/>
                </a:lnTo>
                <a:lnTo>
                  <a:pt x="0" y="4114800"/>
                </a:lnTo>
                <a:lnTo>
                  <a:pt x="0" y="0"/>
                </a:lnTo>
                <a:close/>
              </a:path>
            </a:pathLst>
          </a:custGeom>
          <a:blipFill rotWithShape="1">
            <a:blip r:embed="rId3">
              <a:alphaModFix/>
            </a:blip>
            <a:stretch>
              <a:fillRect/>
            </a:stretch>
          </a:blipFill>
          <a:ln>
            <a:noFill/>
          </a:ln>
        </p:spPr>
      </p:sp>
      <p:pic>
        <p:nvPicPr>
          <p:cNvPr id="3" name="Picture 2">
            <a:extLst>
              <a:ext uri="{FF2B5EF4-FFF2-40B4-BE49-F238E27FC236}">
                <a16:creationId xmlns="" xmlns:a16="http://schemas.microsoft.com/office/drawing/2014/main" id="{33322D66-23FD-7A8F-B059-5F8640D738D9}"/>
              </a:ext>
            </a:extLst>
          </p:cNvPr>
          <p:cNvPicPr>
            <a:picLocks noChangeAspect="1"/>
          </p:cNvPicPr>
          <p:nvPr/>
        </p:nvPicPr>
        <p:blipFill>
          <a:blip r:embed="rId4"/>
          <a:stretch>
            <a:fillRect/>
          </a:stretch>
        </p:blipFill>
        <p:spPr>
          <a:xfrm>
            <a:off x="0" y="0"/>
            <a:ext cx="18288639" cy="10286999"/>
          </a:xfrm>
          <a:prstGeom prst="rect">
            <a:avLst/>
          </a:prstGeom>
        </p:spPr>
      </p:pic>
      <p:pic>
        <p:nvPicPr>
          <p:cNvPr id="5" name="Picture 4">
            <a:extLst>
              <a:ext uri="{FF2B5EF4-FFF2-40B4-BE49-F238E27FC236}">
                <a16:creationId xmlns="" xmlns:a16="http://schemas.microsoft.com/office/drawing/2014/main" id="{13B30592-DE6B-F7F3-931E-3B6ABAE642D5}"/>
              </a:ext>
            </a:extLst>
          </p:cNvPr>
          <p:cNvPicPr>
            <a:picLocks noChangeAspect="1"/>
          </p:cNvPicPr>
          <p:nvPr/>
        </p:nvPicPr>
        <p:blipFill>
          <a:blip r:embed="rId5"/>
          <a:stretch>
            <a:fillRect/>
          </a:stretch>
        </p:blipFill>
        <p:spPr>
          <a:xfrm>
            <a:off x="15341760" y="7251555"/>
            <a:ext cx="3481118" cy="457849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F4A"/>
        </a:solidFill>
        <a:effectLst/>
      </p:bgPr>
    </p:bg>
    <p:spTree>
      <p:nvGrpSpPr>
        <p:cNvPr id="1" name="Shape 100"/>
        <p:cNvGrpSpPr/>
        <p:nvPr/>
      </p:nvGrpSpPr>
      <p:grpSpPr>
        <a:xfrm>
          <a:off x="0" y="0"/>
          <a:ext cx="0" cy="0"/>
          <a:chOff x="0" y="0"/>
          <a:chExt cx="0" cy="0"/>
        </a:xfrm>
      </p:grpSpPr>
      <p:grpSp>
        <p:nvGrpSpPr>
          <p:cNvPr id="101" name="Google Shape;101;p2"/>
          <p:cNvGrpSpPr/>
          <p:nvPr/>
        </p:nvGrpSpPr>
        <p:grpSpPr>
          <a:xfrm>
            <a:off x="9488101" y="6795372"/>
            <a:ext cx="4010025" cy="730020"/>
            <a:chOff x="0" y="0"/>
            <a:chExt cx="5346700" cy="973360"/>
          </a:xfrm>
        </p:grpSpPr>
        <p:sp>
          <p:nvSpPr>
            <p:cNvPr id="102" name="Google Shape;102;p2"/>
            <p:cNvSpPr txBox="1"/>
            <p:nvPr/>
          </p:nvSpPr>
          <p:spPr>
            <a:xfrm>
              <a:off x="0" y="0"/>
              <a:ext cx="5346700" cy="969667"/>
            </a:xfrm>
            <a:prstGeom prst="rect">
              <a:avLst/>
            </a:prstGeom>
            <a:noFill/>
            <a:ln>
              <a:noFill/>
            </a:ln>
          </p:spPr>
          <p:txBody>
            <a:bodyPr spcFirstLastPara="1" wrap="square" lIns="0" tIns="0" rIns="0" bIns="0" anchor="t" anchorCtr="0">
              <a:spAutoFit/>
            </a:bodyPr>
            <a:lstStyle/>
            <a:p>
              <a:pPr marL="0" marR="0" lvl="0" indent="0" algn="ctr" rtl="0">
                <a:lnSpc>
                  <a:spcPct val="120010"/>
                </a:lnSpc>
                <a:spcBef>
                  <a:spcPts val="0"/>
                </a:spcBef>
                <a:spcAft>
                  <a:spcPts val="0"/>
                </a:spcAft>
                <a:buNone/>
              </a:pPr>
              <a:r>
                <a:rPr lang="en-US" sz="1969" b="1" i="0" u="none" strike="noStrike" cap="none" dirty="0">
                  <a:solidFill>
                    <a:srgbClr val="FFFFFF"/>
                  </a:solidFill>
                  <a:latin typeface="Bricolage Grotesque"/>
                  <a:ea typeface="Bricolage Grotesque"/>
                  <a:cs typeface="Bricolage Grotesque"/>
                  <a:sym typeface="Bricolage Grotesque"/>
                </a:rPr>
                <a:t>React.js: The User Interface Library</a:t>
              </a:r>
              <a:endParaRPr dirty="0"/>
            </a:p>
          </p:txBody>
        </p:sp>
        <p:sp>
          <p:nvSpPr>
            <p:cNvPr id="103" name="Google Shape;103;p2"/>
            <p:cNvSpPr txBox="1"/>
            <p:nvPr/>
          </p:nvSpPr>
          <p:spPr>
            <a:xfrm>
              <a:off x="0" y="628651"/>
              <a:ext cx="5346700" cy="344709"/>
            </a:xfrm>
            <a:prstGeom prst="rect">
              <a:avLst/>
            </a:prstGeom>
            <a:noFill/>
            <a:ln>
              <a:noFill/>
            </a:ln>
          </p:spPr>
          <p:txBody>
            <a:bodyPr spcFirstLastPara="1" wrap="square" lIns="0" tIns="0" rIns="0" bIns="0" anchor="t" anchorCtr="0">
              <a:spAutoFit/>
            </a:bodyPr>
            <a:lstStyle/>
            <a:p>
              <a:pPr marL="0" marR="0" lvl="0" indent="0" algn="ctr" rtl="0">
                <a:lnSpc>
                  <a:spcPct val="120010"/>
                </a:lnSpc>
                <a:spcBef>
                  <a:spcPts val="0"/>
                </a:spcBef>
                <a:spcAft>
                  <a:spcPts val="0"/>
                </a:spcAft>
                <a:buNone/>
              </a:pPr>
              <a:endParaRPr dirty="0"/>
            </a:p>
          </p:txBody>
        </p:sp>
      </p:grpSp>
      <p:grpSp>
        <p:nvGrpSpPr>
          <p:cNvPr id="104" name="Google Shape;104;p2"/>
          <p:cNvGrpSpPr/>
          <p:nvPr/>
        </p:nvGrpSpPr>
        <p:grpSpPr>
          <a:xfrm>
            <a:off x="4985177" y="6746441"/>
            <a:ext cx="4010025" cy="1562365"/>
            <a:chOff x="0" y="0"/>
            <a:chExt cx="5346700" cy="2083151"/>
          </a:xfrm>
        </p:grpSpPr>
        <p:sp>
          <p:nvSpPr>
            <p:cNvPr id="105" name="Google Shape;105;p2"/>
            <p:cNvSpPr txBox="1"/>
            <p:nvPr/>
          </p:nvSpPr>
          <p:spPr>
            <a:xfrm>
              <a:off x="0" y="0"/>
              <a:ext cx="5346700" cy="484835"/>
            </a:xfrm>
            <a:prstGeom prst="rect">
              <a:avLst/>
            </a:prstGeom>
            <a:noFill/>
            <a:ln>
              <a:noFill/>
            </a:ln>
          </p:spPr>
          <p:txBody>
            <a:bodyPr spcFirstLastPara="1" wrap="square" lIns="0" tIns="0" rIns="0" bIns="0" anchor="t" anchorCtr="0">
              <a:spAutoFit/>
            </a:bodyPr>
            <a:lstStyle/>
            <a:p>
              <a:pPr marL="0" marR="0" lvl="0" indent="0" algn="ctr" rtl="0">
                <a:lnSpc>
                  <a:spcPct val="120010"/>
                </a:lnSpc>
                <a:spcBef>
                  <a:spcPts val="0"/>
                </a:spcBef>
                <a:spcAft>
                  <a:spcPts val="0"/>
                </a:spcAft>
                <a:buNone/>
              </a:pPr>
              <a:r>
                <a:rPr lang="en-US" sz="1969" b="1" dirty="0" smtClean="0">
                  <a:solidFill>
                    <a:srgbClr val="FFFFFF"/>
                  </a:solidFill>
                  <a:latin typeface="Bricolage Grotesque"/>
                  <a:sym typeface="Bricolage Grotesque"/>
                </a:rPr>
                <a:t>MYSQL</a:t>
              </a:r>
              <a:r>
                <a:rPr lang="en-US" sz="1969" b="1" dirty="0">
                  <a:solidFill>
                    <a:srgbClr val="FFFFFF"/>
                  </a:solidFill>
                  <a:latin typeface="Bricolage Grotesque"/>
                  <a:sym typeface="Bricolage Grotesque"/>
                </a:rPr>
                <a:t>: The Database</a:t>
              </a:r>
              <a:endParaRPr dirty="0"/>
            </a:p>
          </p:txBody>
        </p:sp>
        <p:sp>
          <p:nvSpPr>
            <p:cNvPr id="106" name="Google Shape;106;p2"/>
            <p:cNvSpPr txBox="1"/>
            <p:nvPr/>
          </p:nvSpPr>
          <p:spPr>
            <a:xfrm>
              <a:off x="0" y="628651"/>
              <a:ext cx="5346700" cy="1454500"/>
            </a:xfrm>
            <a:prstGeom prst="rect">
              <a:avLst/>
            </a:prstGeom>
            <a:noFill/>
            <a:ln>
              <a:noFill/>
            </a:ln>
          </p:spPr>
          <p:txBody>
            <a:bodyPr spcFirstLastPara="1" wrap="square" lIns="0" tIns="0" rIns="0" bIns="0" anchor="t" anchorCtr="0">
              <a:spAutoFit/>
            </a:bodyPr>
            <a:lstStyle/>
            <a:p>
              <a:pPr marL="0" marR="0" lvl="0" indent="0" algn="ctr" rtl="0">
                <a:lnSpc>
                  <a:spcPct val="120010"/>
                </a:lnSpc>
                <a:spcBef>
                  <a:spcPts val="0"/>
                </a:spcBef>
                <a:spcAft>
                  <a:spcPts val="0"/>
                </a:spcAft>
                <a:buNone/>
              </a:pPr>
              <a:r>
                <a:rPr lang="en-US" sz="1969" dirty="0" smtClean="0">
                  <a:solidFill>
                    <a:srgbClr val="FFFFFF"/>
                  </a:solidFill>
                </a:rPr>
                <a:t>MYSQL </a:t>
              </a:r>
              <a:r>
                <a:rPr lang="en-US" sz="1969" dirty="0">
                  <a:solidFill>
                    <a:srgbClr val="FFFFFF"/>
                  </a:solidFill>
                </a:rPr>
                <a:t>stores stock, expiry, batch and inventory-related data in a structured and reliable database.</a:t>
              </a:r>
              <a:endParaRPr dirty="0"/>
            </a:p>
          </p:txBody>
        </p:sp>
      </p:grpSp>
      <p:grpSp>
        <p:nvGrpSpPr>
          <p:cNvPr id="107" name="Google Shape;107;p2"/>
          <p:cNvGrpSpPr/>
          <p:nvPr/>
        </p:nvGrpSpPr>
        <p:grpSpPr>
          <a:xfrm>
            <a:off x="384602" y="6746441"/>
            <a:ext cx="4107676" cy="2289614"/>
            <a:chOff x="0" y="0"/>
            <a:chExt cx="5476901" cy="3052821"/>
          </a:xfrm>
        </p:grpSpPr>
        <p:sp>
          <p:nvSpPr>
            <p:cNvPr id="108" name="Google Shape;108;p2"/>
            <p:cNvSpPr txBox="1"/>
            <p:nvPr/>
          </p:nvSpPr>
          <p:spPr>
            <a:xfrm>
              <a:off x="0" y="0"/>
              <a:ext cx="5476901" cy="969667"/>
            </a:xfrm>
            <a:prstGeom prst="rect">
              <a:avLst/>
            </a:prstGeom>
            <a:noFill/>
            <a:ln>
              <a:noFill/>
            </a:ln>
          </p:spPr>
          <p:txBody>
            <a:bodyPr spcFirstLastPara="1" wrap="square" lIns="0" tIns="0" rIns="0" bIns="0" anchor="t" anchorCtr="0">
              <a:spAutoFit/>
            </a:bodyPr>
            <a:lstStyle/>
            <a:p>
              <a:pPr marL="0" marR="0" lvl="0" indent="0" algn="ctr" rtl="0">
                <a:lnSpc>
                  <a:spcPct val="120010"/>
                </a:lnSpc>
                <a:spcBef>
                  <a:spcPts val="0"/>
                </a:spcBef>
                <a:spcAft>
                  <a:spcPts val="0"/>
                </a:spcAft>
                <a:buNone/>
              </a:pPr>
              <a:r>
                <a:rPr lang="en-US" sz="1969" b="1" dirty="0">
                  <a:solidFill>
                    <a:srgbClr val="FFFFFF"/>
                  </a:solidFill>
                  <a:latin typeface="Bricolage Grotesque"/>
                  <a:sym typeface="Bricolage Grotesque"/>
                </a:rPr>
                <a:t>Spring Boot: The Backend Framework</a:t>
              </a:r>
              <a:endParaRPr dirty="0"/>
            </a:p>
          </p:txBody>
        </p:sp>
        <p:sp>
          <p:nvSpPr>
            <p:cNvPr id="109" name="Google Shape;109;p2"/>
            <p:cNvSpPr txBox="1"/>
            <p:nvPr/>
          </p:nvSpPr>
          <p:spPr>
            <a:xfrm>
              <a:off x="0" y="628651"/>
              <a:ext cx="5346700" cy="2424170"/>
            </a:xfrm>
            <a:prstGeom prst="rect">
              <a:avLst/>
            </a:prstGeom>
            <a:noFill/>
            <a:ln>
              <a:noFill/>
            </a:ln>
          </p:spPr>
          <p:txBody>
            <a:bodyPr spcFirstLastPara="1" wrap="square" lIns="0" tIns="0" rIns="0" bIns="0" anchor="t" anchorCtr="0">
              <a:spAutoFit/>
            </a:bodyPr>
            <a:lstStyle/>
            <a:p>
              <a:pPr marL="0" marR="0" lvl="0" indent="0" algn="ctr" rtl="0">
                <a:lnSpc>
                  <a:spcPct val="120010"/>
                </a:lnSpc>
                <a:spcBef>
                  <a:spcPts val="0"/>
                </a:spcBef>
                <a:spcAft>
                  <a:spcPts val="0"/>
                </a:spcAft>
                <a:buNone/>
              </a:pPr>
              <a:endParaRPr lang="en-US" sz="1969" dirty="0">
                <a:solidFill>
                  <a:srgbClr val="FDFFF8"/>
                </a:solidFill>
              </a:endParaRPr>
            </a:p>
            <a:p>
              <a:pPr marL="0" marR="0" lvl="0" indent="0" algn="ctr" rtl="0">
                <a:lnSpc>
                  <a:spcPct val="120010"/>
                </a:lnSpc>
                <a:spcBef>
                  <a:spcPts val="0"/>
                </a:spcBef>
                <a:spcAft>
                  <a:spcPts val="0"/>
                </a:spcAft>
                <a:buNone/>
              </a:pPr>
              <a:r>
                <a:rPr lang="en-US" sz="1969" dirty="0">
                  <a:solidFill>
                    <a:srgbClr val="FFFFFF"/>
                  </a:solidFill>
                </a:rPr>
                <a:t>Spring Boot </a:t>
              </a:r>
              <a:r>
                <a:rPr lang="en-US" sz="1969" dirty="0" err="1">
                  <a:solidFill>
                    <a:srgbClr val="FFFFFF"/>
                  </a:solidFill>
                </a:rPr>
                <a:t>provides</a:t>
              </a:r>
              <a:r>
                <a:rPr lang="en-US" sz="1969" dirty="0">
                  <a:solidFill>
                    <a:srgbClr val="FFFFFF"/>
                  </a:solidFill>
                </a:rPr>
                <a:t> the backend services and REST APIs for inventory </a:t>
              </a:r>
              <a:r>
                <a:rPr lang="en-US" sz="1969" dirty="0" err="1">
                  <a:solidFill>
                    <a:srgbClr val="FFFFFF"/>
                  </a:solidFill>
                </a:rPr>
                <a:t>management, expiry</a:t>
              </a:r>
              <a:r>
                <a:rPr lang="en-US" sz="1969" dirty="0">
                  <a:solidFill>
                    <a:srgbClr val="FFFFFF"/>
                  </a:solidFill>
                </a:rPr>
                <a:t> </a:t>
              </a:r>
              <a:r>
                <a:rPr lang="en-US" sz="1969" dirty="0" err="1">
                  <a:solidFill>
                    <a:srgbClr val="FFFFFF"/>
                  </a:solidFill>
                </a:rPr>
                <a:t>tracking, stock</a:t>
              </a:r>
              <a:r>
                <a:rPr lang="en-US" sz="1969" dirty="0">
                  <a:solidFill>
                    <a:srgbClr val="FFFFFF"/>
                  </a:solidFill>
                </a:rPr>
                <a:t> alerts and reporting.</a:t>
              </a:r>
              <a:endParaRPr dirty="0"/>
            </a:p>
          </p:txBody>
        </p:sp>
      </p:grpSp>
      <p:sp>
        <p:nvSpPr>
          <p:cNvPr id="110" name="Google Shape;110;p2"/>
          <p:cNvSpPr txBox="1"/>
          <p:nvPr/>
        </p:nvSpPr>
        <p:spPr>
          <a:xfrm>
            <a:off x="536402" y="669925"/>
            <a:ext cx="16954500" cy="20313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600" b="0" i="0" u="none" strike="noStrike" cap="none" dirty="0">
                <a:solidFill>
                  <a:srgbClr val="FFFFFF"/>
                </a:solidFill>
                <a:latin typeface="Times"/>
                <a:ea typeface="Times"/>
                <a:cs typeface="Times"/>
                <a:sym typeface="Times"/>
              </a:rPr>
              <a:t>Technology Stack: </a:t>
            </a:r>
            <a:r>
              <a:rPr lang="en-US" sz="6600" b="0" i="0" u="none" strike="noStrike" cap="none" dirty="0" err="1">
                <a:solidFill>
                  <a:srgbClr val="FFFFFF"/>
                </a:solidFill>
                <a:latin typeface="Times"/>
                <a:ea typeface="Times"/>
                <a:cs typeface="Times"/>
                <a:sym typeface="Times"/>
              </a:rPr>
              <a:t>Medi</a:t>
            </a:r>
            <a:r>
              <a:rPr lang="en-US" sz="6600" dirty="0" err="1">
                <a:solidFill>
                  <a:srgbClr val="FFFFFF"/>
                </a:solidFill>
                <a:latin typeface="Times"/>
                <a:ea typeface="Times"/>
                <a:cs typeface="Times"/>
                <a:sym typeface="Times"/>
              </a:rPr>
              <a:t>S</a:t>
            </a:r>
            <a:r>
              <a:rPr lang="en-US" sz="6600" b="0" i="0" u="none" strike="noStrike" cap="none" dirty="0" err="1">
                <a:solidFill>
                  <a:srgbClr val="FFFFFF"/>
                </a:solidFill>
                <a:latin typeface="Times"/>
                <a:ea typeface="Times"/>
                <a:cs typeface="Times"/>
                <a:sym typeface="Times"/>
              </a:rPr>
              <a:t>tock</a:t>
            </a:r>
            <a:r>
              <a:rPr lang="en-US" sz="6600" b="0" i="0" u="none" strike="noStrike" cap="none" dirty="0">
                <a:solidFill>
                  <a:srgbClr val="FFFFFF"/>
                </a:solidFill>
                <a:latin typeface="Times"/>
                <a:ea typeface="Times"/>
                <a:cs typeface="Times"/>
                <a:sym typeface="Times"/>
              </a:rPr>
              <a:t> Framework Explained</a:t>
            </a:r>
            <a:endParaRPr sz="6600" dirty="0"/>
          </a:p>
        </p:txBody>
      </p:sp>
      <p:sp>
        <p:nvSpPr>
          <p:cNvPr id="113" name="Google Shape;113;p2"/>
          <p:cNvSpPr/>
          <p:nvPr/>
        </p:nvSpPr>
        <p:spPr>
          <a:xfrm>
            <a:off x="9369295" y="3344455"/>
            <a:ext cx="4121362" cy="2709147"/>
          </a:xfrm>
          <a:custGeom>
            <a:avLst/>
            <a:gdLst/>
            <a:ahLst/>
            <a:cxnLst/>
            <a:rect l="l" t="t" r="r" b="b"/>
            <a:pathLst>
              <a:path w="1631088" h="1072184" extrusionOk="0">
                <a:moveTo>
                  <a:pt x="37570" y="0"/>
                </a:moveTo>
                <a:lnTo>
                  <a:pt x="1593519" y="0"/>
                </a:lnTo>
                <a:cubicBezTo>
                  <a:pt x="1614268" y="0"/>
                  <a:pt x="1631088" y="16821"/>
                  <a:pt x="1631088" y="37570"/>
                </a:cubicBezTo>
                <a:lnTo>
                  <a:pt x="1631088" y="1034614"/>
                </a:lnTo>
                <a:cubicBezTo>
                  <a:pt x="1631088" y="1044578"/>
                  <a:pt x="1627130" y="1054134"/>
                  <a:pt x="1620085" y="1061180"/>
                </a:cubicBezTo>
                <a:cubicBezTo>
                  <a:pt x="1613039" y="1068226"/>
                  <a:pt x="1603483" y="1072184"/>
                  <a:pt x="1593519" y="1072184"/>
                </a:cubicBezTo>
                <a:lnTo>
                  <a:pt x="37570" y="1072184"/>
                </a:lnTo>
                <a:cubicBezTo>
                  <a:pt x="27606" y="1072184"/>
                  <a:pt x="18050" y="1068226"/>
                  <a:pt x="11004" y="1061180"/>
                </a:cubicBezTo>
                <a:cubicBezTo>
                  <a:pt x="3958" y="1054134"/>
                  <a:pt x="0" y="1044578"/>
                  <a:pt x="0" y="1034614"/>
                </a:cubicBezTo>
                <a:lnTo>
                  <a:pt x="0" y="37570"/>
                </a:lnTo>
                <a:cubicBezTo>
                  <a:pt x="0" y="27606"/>
                  <a:pt x="3958" y="18050"/>
                  <a:pt x="11004" y="11004"/>
                </a:cubicBezTo>
                <a:cubicBezTo>
                  <a:pt x="18050" y="3958"/>
                  <a:pt x="27606" y="0"/>
                  <a:pt x="37570" y="0"/>
                </a:cubicBezTo>
                <a:close/>
              </a:path>
            </a:pathLst>
          </a:custGeom>
          <a:blipFill rotWithShape="1">
            <a:blip r:embed="rId3">
              <a:alphaModFix/>
            </a:blip>
            <a:stretch>
              <a:fillRect l="-81" r="-82"/>
            </a:stretch>
          </a:blip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 name="Google Shape;115;p2"/>
          <p:cNvGrpSpPr/>
          <p:nvPr/>
        </p:nvGrpSpPr>
        <p:grpSpPr>
          <a:xfrm>
            <a:off x="14085713" y="6746441"/>
            <a:ext cx="4010025" cy="2221266"/>
            <a:chOff x="0" y="0"/>
            <a:chExt cx="5346700" cy="2961687"/>
          </a:xfrm>
        </p:grpSpPr>
        <p:sp>
          <p:nvSpPr>
            <p:cNvPr id="116" name="Google Shape;116;p2"/>
            <p:cNvSpPr txBox="1"/>
            <p:nvPr/>
          </p:nvSpPr>
          <p:spPr>
            <a:xfrm>
              <a:off x="0" y="0"/>
              <a:ext cx="5346700" cy="969667"/>
            </a:xfrm>
            <a:prstGeom prst="rect">
              <a:avLst/>
            </a:prstGeom>
            <a:noFill/>
            <a:ln>
              <a:noFill/>
            </a:ln>
          </p:spPr>
          <p:txBody>
            <a:bodyPr spcFirstLastPara="1" wrap="square" lIns="0" tIns="0" rIns="0" bIns="0" anchor="t" anchorCtr="0">
              <a:spAutoFit/>
            </a:bodyPr>
            <a:lstStyle/>
            <a:p>
              <a:pPr marL="0" marR="0" lvl="0" indent="0" algn="ctr" rtl="0">
                <a:lnSpc>
                  <a:spcPct val="120010"/>
                </a:lnSpc>
                <a:spcBef>
                  <a:spcPts val="0"/>
                </a:spcBef>
                <a:spcAft>
                  <a:spcPts val="0"/>
                </a:spcAft>
                <a:buNone/>
              </a:pPr>
              <a:r>
                <a:rPr lang="en-US" sz="1969" b="1" dirty="0">
                  <a:solidFill>
                    <a:srgbClr val="FFFFFF"/>
                  </a:solidFill>
                  <a:latin typeface="Bricolage Grotesque"/>
                  <a:sym typeface="Bricolage Grotesque"/>
                </a:rPr>
                <a:t>Security: Authentication &amp; Access Control</a:t>
              </a:r>
              <a:endParaRPr dirty="0"/>
            </a:p>
          </p:txBody>
        </p:sp>
        <p:sp>
          <p:nvSpPr>
            <p:cNvPr id="117" name="Google Shape;117;p2"/>
            <p:cNvSpPr txBox="1"/>
            <p:nvPr/>
          </p:nvSpPr>
          <p:spPr>
            <a:xfrm>
              <a:off x="0" y="1022353"/>
              <a:ext cx="5346700" cy="1939334"/>
            </a:xfrm>
            <a:prstGeom prst="rect">
              <a:avLst/>
            </a:prstGeom>
            <a:noFill/>
            <a:ln>
              <a:noFill/>
            </a:ln>
          </p:spPr>
          <p:txBody>
            <a:bodyPr spcFirstLastPara="1" wrap="square" lIns="0" tIns="0" rIns="0" bIns="0" anchor="t" anchorCtr="0">
              <a:spAutoFit/>
            </a:bodyPr>
            <a:lstStyle/>
            <a:p>
              <a:pPr marL="0" marR="0" lvl="0" indent="0" algn="ctr" rtl="0">
                <a:lnSpc>
                  <a:spcPct val="120010"/>
                </a:lnSpc>
                <a:spcBef>
                  <a:spcPts val="0"/>
                </a:spcBef>
                <a:spcAft>
                  <a:spcPts val="0"/>
                </a:spcAft>
                <a:buNone/>
              </a:pPr>
              <a:r>
                <a:rPr lang="en-US" sz="1969" dirty="0">
                  <a:solidFill>
                    <a:srgbClr val="FFFFFF"/>
                  </a:solidFill>
                </a:rPr>
                <a:t>Spring Security with JWT/OAuth2 helps secure the application, authenticate users and protect backend APIs.</a:t>
              </a:r>
              <a:endParaRPr dirty="0"/>
            </a:p>
          </p:txBody>
        </p:sp>
      </p:grpSp>
      <p:pic>
        <p:nvPicPr>
          <p:cNvPr id="3" name="Picture 2">
            <a:extLst>
              <a:ext uri="{FF2B5EF4-FFF2-40B4-BE49-F238E27FC236}">
                <a16:creationId xmlns="" xmlns:a16="http://schemas.microsoft.com/office/drawing/2014/main" id="{9617AC4F-6F5B-4855-C9D9-F6678BE5D978}"/>
              </a:ext>
            </a:extLst>
          </p:cNvPr>
          <p:cNvPicPr>
            <a:picLocks noChangeAspect="1"/>
          </p:cNvPicPr>
          <p:nvPr/>
        </p:nvPicPr>
        <p:blipFill>
          <a:blip r:embed="rId4"/>
          <a:stretch>
            <a:fillRect/>
          </a:stretch>
        </p:blipFill>
        <p:spPr>
          <a:xfrm>
            <a:off x="513745" y="3289159"/>
            <a:ext cx="3880882" cy="2764443"/>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 xmlns:a16="http://schemas.microsoft.com/office/drawing/2014/main" id="{0797B3C1-56EF-78C5-1268-F587C92CEE29}"/>
              </a:ext>
            </a:extLst>
          </p:cNvPr>
          <p:cNvPicPr>
            <a:picLocks noChangeAspect="1"/>
          </p:cNvPicPr>
          <p:nvPr/>
        </p:nvPicPr>
        <p:blipFill>
          <a:blip r:embed="rId5"/>
          <a:stretch>
            <a:fillRect/>
          </a:stretch>
        </p:blipFill>
        <p:spPr>
          <a:xfrm>
            <a:off x="13952363" y="3358005"/>
            <a:ext cx="3882974" cy="2695597"/>
          </a:xfrm>
          <a:prstGeom prst="rect">
            <a:avLst/>
          </a:prstGeom>
        </p:spPr>
      </p:pic>
      <p:sp>
        <p:nvSpPr>
          <p:cNvPr id="9" name="Google Shape;103;p2">
            <a:extLst>
              <a:ext uri="{FF2B5EF4-FFF2-40B4-BE49-F238E27FC236}">
                <a16:creationId xmlns="" xmlns:a16="http://schemas.microsoft.com/office/drawing/2014/main" id="{6D9EFB4D-5D6C-D06B-64AF-38443938BF5F}"/>
              </a:ext>
            </a:extLst>
          </p:cNvPr>
          <p:cNvSpPr txBox="1"/>
          <p:nvPr/>
        </p:nvSpPr>
        <p:spPr>
          <a:xfrm>
            <a:off x="9488101" y="7266860"/>
            <a:ext cx="4010025" cy="1818126"/>
          </a:xfrm>
          <a:prstGeom prst="rect">
            <a:avLst/>
          </a:prstGeom>
          <a:noFill/>
          <a:ln>
            <a:noFill/>
          </a:ln>
        </p:spPr>
        <p:txBody>
          <a:bodyPr spcFirstLastPara="1" wrap="square" lIns="0" tIns="0" rIns="0" bIns="0" anchor="t" anchorCtr="0">
            <a:spAutoFit/>
          </a:bodyPr>
          <a:lstStyle/>
          <a:p>
            <a:pPr marL="0" marR="0" lvl="0" indent="0" algn="ctr" rtl="0">
              <a:lnSpc>
                <a:spcPct val="120010"/>
              </a:lnSpc>
              <a:spcBef>
                <a:spcPts val="0"/>
              </a:spcBef>
              <a:spcAft>
                <a:spcPts val="0"/>
              </a:spcAft>
              <a:buNone/>
            </a:pPr>
            <a:endParaRPr lang="en-US" sz="1969" b="0" i="0" u="none" strike="noStrike" cap="none" dirty="0">
              <a:solidFill>
                <a:srgbClr val="FDFFF8"/>
              </a:solidFill>
              <a:latin typeface="Arial"/>
              <a:ea typeface="Arial"/>
              <a:cs typeface="Arial"/>
              <a:sym typeface="Arial"/>
            </a:endParaRPr>
          </a:p>
          <a:p>
            <a:pPr marL="0" marR="0" lvl="0" indent="0" algn="ctr" rtl="0">
              <a:lnSpc>
                <a:spcPct val="120010"/>
              </a:lnSpc>
              <a:spcBef>
                <a:spcPts val="0"/>
              </a:spcBef>
              <a:spcAft>
                <a:spcPts val="0"/>
              </a:spcAft>
              <a:buNone/>
            </a:pPr>
            <a:r>
              <a:rPr lang="en-US" sz="1969" b="0" i="0" u="none" strike="noStrike" cap="none" dirty="0">
                <a:solidFill>
                  <a:srgbClr val="FFFFFF"/>
                </a:solidFill>
                <a:latin typeface="Arial"/>
                <a:ea typeface="Arial"/>
                <a:cs typeface="Arial"/>
                <a:sym typeface="Arial"/>
              </a:rPr>
              <a:t>React.js is used to build the interactive frontend of </a:t>
            </a:r>
            <a:r>
              <a:rPr lang="en-US" sz="1969" b="0" i="0" u="none" strike="noStrike" cap="none" dirty="0" err="1">
                <a:solidFill>
                  <a:srgbClr val="FFFFFF"/>
                </a:solidFill>
                <a:latin typeface="Arial"/>
                <a:ea typeface="Arial"/>
                <a:cs typeface="Arial"/>
                <a:sym typeface="Arial"/>
              </a:rPr>
              <a:t>MediStock</a:t>
            </a:r>
            <a:r>
              <a:rPr lang="en-US" sz="1969" b="0" i="0" u="none" strike="noStrike" cap="none" dirty="0">
                <a:solidFill>
                  <a:srgbClr val="FFFFFF"/>
                </a:solidFill>
                <a:latin typeface="Arial"/>
                <a:ea typeface="Arial"/>
                <a:cs typeface="Arial"/>
                <a:sym typeface="Arial"/>
              </a:rPr>
              <a:t>, including the dashboard, inventory views, alerts and report interfaces.</a:t>
            </a:r>
            <a:endParaRPr dirty="0"/>
          </a:p>
        </p:txBody>
      </p:sp>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27159" y="3309037"/>
            <a:ext cx="4509604" cy="27445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F4A"/>
        </a:solidFill>
        <a:effectLst/>
      </p:bgPr>
    </p:bg>
    <p:spTree>
      <p:nvGrpSpPr>
        <p:cNvPr id="1" name="Shape 125">
          <a:extLst>
            <a:ext uri="{FF2B5EF4-FFF2-40B4-BE49-F238E27FC236}">
              <a16:creationId xmlns="" xmlns:a16="http://schemas.microsoft.com/office/drawing/2014/main" id="{448D8B6B-B399-30DC-5D5B-6502ADA03860}"/>
            </a:ext>
          </a:extLst>
        </p:cNvPr>
        <p:cNvGrpSpPr/>
        <p:nvPr/>
      </p:nvGrpSpPr>
      <p:grpSpPr>
        <a:xfrm>
          <a:off x="0" y="0"/>
          <a:ext cx="0" cy="0"/>
          <a:chOff x="0" y="0"/>
          <a:chExt cx="0" cy="0"/>
        </a:xfrm>
      </p:grpSpPr>
      <p:sp>
        <p:nvSpPr>
          <p:cNvPr id="127" name="Google Shape;127;p3">
            <a:extLst>
              <a:ext uri="{FF2B5EF4-FFF2-40B4-BE49-F238E27FC236}">
                <a16:creationId xmlns="" xmlns:a16="http://schemas.microsoft.com/office/drawing/2014/main" id="{E9B377CC-EDB7-4847-E786-3946F29B6AF4}"/>
              </a:ext>
            </a:extLst>
          </p:cNvPr>
          <p:cNvSpPr txBox="1"/>
          <p:nvPr/>
        </p:nvSpPr>
        <p:spPr>
          <a:xfrm>
            <a:off x="9144000" y="5409154"/>
            <a:ext cx="8273075" cy="383054"/>
          </a:xfrm>
          <a:prstGeom prst="rect">
            <a:avLst/>
          </a:prstGeom>
          <a:noFill/>
          <a:ln>
            <a:noFill/>
          </a:ln>
        </p:spPr>
        <p:txBody>
          <a:bodyPr spcFirstLastPara="1" wrap="square" lIns="0" tIns="0" rIns="0" bIns="0" anchor="t" anchorCtr="0">
            <a:spAutoFit/>
          </a:bodyPr>
          <a:lstStyle/>
          <a:p>
            <a:pPr marL="0" marR="0" lvl="0" indent="0" algn="ctr" rtl="0">
              <a:lnSpc>
                <a:spcPct val="120009"/>
              </a:lnSpc>
              <a:spcBef>
                <a:spcPts val="0"/>
              </a:spcBef>
              <a:spcAft>
                <a:spcPts val="0"/>
              </a:spcAft>
              <a:buNone/>
            </a:pPr>
            <a:r>
              <a:rPr lang="en-US" sz="2074" b="1" i="0" u="none" strike="noStrike" cap="none" dirty="0" smtClean="0">
                <a:solidFill>
                  <a:srgbClr val="FFFFFF"/>
                </a:solidFill>
                <a:latin typeface="Bricolage Grotesque"/>
                <a:ea typeface="Bricolage Grotesque"/>
                <a:cs typeface="Bricolage Grotesque"/>
                <a:sym typeface="Bricolage Grotesque"/>
              </a:rPr>
              <a:t>Manage suppliers Interface</a:t>
            </a:r>
            <a:endParaRPr dirty="0"/>
          </a:p>
        </p:txBody>
      </p:sp>
      <p:sp>
        <p:nvSpPr>
          <p:cNvPr id="130" name="Google Shape;130;p3">
            <a:extLst>
              <a:ext uri="{FF2B5EF4-FFF2-40B4-BE49-F238E27FC236}">
                <a16:creationId xmlns="" xmlns:a16="http://schemas.microsoft.com/office/drawing/2014/main" id="{3189D80A-CB04-399A-AFFA-B2D351EDFC18}"/>
              </a:ext>
            </a:extLst>
          </p:cNvPr>
          <p:cNvSpPr txBox="1"/>
          <p:nvPr/>
        </p:nvSpPr>
        <p:spPr>
          <a:xfrm>
            <a:off x="2409669" y="5430838"/>
            <a:ext cx="4010025" cy="383054"/>
          </a:xfrm>
          <a:prstGeom prst="rect">
            <a:avLst/>
          </a:prstGeom>
          <a:noFill/>
          <a:ln>
            <a:noFill/>
          </a:ln>
        </p:spPr>
        <p:txBody>
          <a:bodyPr spcFirstLastPara="1" wrap="square" lIns="0" tIns="0" rIns="0" bIns="0" anchor="t" anchorCtr="0">
            <a:spAutoFit/>
          </a:bodyPr>
          <a:lstStyle/>
          <a:p>
            <a:pPr marL="0" marR="0" lvl="0" indent="0" algn="ctr" rtl="0">
              <a:lnSpc>
                <a:spcPct val="120009"/>
              </a:lnSpc>
              <a:spcBef>
                <a:spcPts val="0"/>
              </a:spcBef>
              <a:spcAft>
                <a:spcPts val="0"/>
              </a:spcAft>
              <a:buNone/>
            </a:pPr>
            <a:r>
              <a:rPr lang="en-US" sz="2074" b="1" dirty="0">
                <a:solidFill>
                  <a:srgbClr val="FFFFFF"/>
                </a:solidFill>
                <a:latin typeface="Bricolage Grotesque"/>
                <a:sym typeface="Bricolage Grotesque"/>
              </a:rPr>
              <a:t>Stock Alerts Made Easy</a:t>
            </a:r>
            <a:endParaRPr dirty="0"/>
          </a:p>
        </p:txBody>
      </p:sp>
      <p:sp>
        <p:nvSpPr>
          <p:cNvPr id="133" name="Google Shape;133;p3">
            <a:extLst>
              <a:ext uri="{FF2B5EF4-FFF2-40B4-BE49-F238E27FC236}">
                <a16:creationId xmlns="" xmlns:a16="http://schemas.microsoft.com/office/drawing/2014/main" id="{E78A9EA1-B829-1FFE-795D-95355C7C58D4}"/>
              </a:ext>
            </a:extLst>
          </p:cNvPr>
          <p:cNvSpPr txBox="1"/>
          <p:nvPr/>
        </p:nvSpPr>
        <p:spPr>
          <a:xfrm>
            <a:off x="12492651" y="9367540"/>
            <a:ext cx="4010025" cy="383054"/>
          </a:xfrm>
          <a:prstGeom prst="rect">
            <a:avLst/>
          </a:prstGeom>
          <a:noFill/>
          <a:ln>
            <a:noFill/>
          </a:ln>
        </p:spPr>
        <p:txBody>
          <a:bodyPr spcFirstLastPara="1" wrap="square" lIns="0" tIns="0" rIns="0" bIns="0" anchor="t" anchorCtr="0">
            <a:spAutoFit/>
          </a:bodyPr>
          <a:lstStyle/>
          <a:p>
            <a:pPr marL="0" marR="0" lvl="0" indent="0" algn="ctr" rtl="0">
              <a:lnSpc>
                <a:spcPct val="120009"/>
              </a:lnSpc>
              <a:spcBef>
                <a:spcPts val="0"/>
              </a:spcBef>
              <a:spcAft>
                <a:spcPts val="0"/>
              </a:spcAft>
              <a:buNone/>
            </a:pPr>
            <a:r>
              <a:rPr lang="en-US" sz="2074" b="1" i="0" u="none" strike="noStrike" cap="none" dirty="0">
                <a:solidFill>
                  <a:srgbClr val="FFFFFF"/>
                </a:solidFill>
                <a:latin typeface="Bricolage Grotesque"/>
                <a:ea typeface="Bricolage Grotesque"/>
                <a:cs typeface="Bricolage Grotesque"/>
                <a:sym typeface="Bricolage Grotesque"/>
              </a:rPr>
              <a:t>Expiry Monitoring Made Easy</a:t>
            </a:r>
            <a:endParaRPr dirty="0"/>
          </a:p>
        </p:txBody>
      </p:sp>
      <p:sp>
        <p:nvSpPr>
          <p:cNvPr id="135" name="Google Shape;135;p3">
            <a:extLst>
              <a:ext uri="{FF2B5EF4-FFF2-40B4-BE49-F238E27FC236}">
                <a16:creationId xmlns="" xmlns:a16="http://schemas.microsoft.com/office/drawing/2014/main" id="{1EDF11D6-DA1F-676F-E86C-164C48ED5955}"/>
              </a:ext>
            </a:extLst>
          </p:cNvPr>
          <p:cNvSpPr txBox="1"/>
          <p:nvPr/>
        </p:nvSpPr>
        <p:spPr>
          <a:xfrm>
            <a:off x="666750" y="800100"/>
            <a:ext cx="16954500" cy="107709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200" b="1" i="0" u="none" strike="noStrike" cap="none" dirty="0">
                <a:solidFill>
                  <a:srgbClr val="FFFFFF"/>
                </a:solidFill>
                <a:latin typeface="Bricolage Grotesque SemiBold"/>
                <a:ea typeface="Bricolage Grotesque SemiBold"/>
                <a:cs typeface="Bricolage Grotesque SemiBold"/>
                <a:sym typeface="Bricolage Grotesque SemiBold"/>
              </a:rPr>
              <a:t>Core Features of </a:t>
            </a:r>
            <a:r>
              <a:rPr lang="en-US" sz="5200" b="1" i="0" u="none" strike="noStrike" cap="none" dirty="0" err="1">
                <a:solidFill>
                  <a:srgbClr val="FFFFFF"/>
                </a:solidFill>
                <a:latin typeface="Bricolage Grotesque SemiBold"/>
                <a:ea typeface="Bricolage Grotesque SemiBold"/>
                <a:cs typeface="Bricolage Grotesque SemiBold"/>
                <a:sym typeface="Bricolage Grotesque SemiBold"/>
              </a:rPr>
              <a:t>Medi</a:t>
            </a:r>
            <a:r>
              <a:rPr lang="en-US" sz="5200" b="1" dirty="0" err="1">
                <a:solidFill>
                  <a:srgbClr val="FFFFFF"/>
                </a:solidFill>
                <a:latin typeface="Bricolage Grotesque SemiBold"/>
                <a:ea typeface="Bricolage Grotesque SemiBold"/>
                <a:cs typeface="Bricolage Grotesque SemiBold"/>
                <a:sym typeface="Bricolage Grotesque SemiBold"/>
              </a:rPr>
              <a:t>S</a:t>
            </a:r>
            <a:r>
              <a:rPr lang="en-US" sz="5200" b="1" i="0" u="none" strike="noStrike" cap="none" dirty="0" err="1">
                <a:solidFill>
                  <a:srgbClr val="FFFFFF"/>
                </a:solidFill>
                <a:latin typeface="Bricolage Grotesque SemiBold"/>
                <a:ea typeface="Bricolage Grotesque SemiBold"/>
                <a:cs typeface="Bricolage Grotesque SemiBold"/>
                <a:sym typeface="Bricolage Grotesque SemiBold"/>
              </a:rPr>
              <a:t>tock</a:t>
            </a:r>
            <a:r>
              <a:rPr lang="en-US" sz="5200" b="1" i="0" u="none" strike="noStrike" cap="none" dirty="0">
                <a:solidFill>
                  <a:srgbClr val="FFFFFF"/>
                </a:solidFill>
                <a:latin typeface="Bricolage Grotesque SemiBold"/>
                <a:ea typeface="Bricolage Grotesque SemiBold"/>
                <a:cs typeface="Bricolage Grotesque SemiBold"/>
                <a:sym typeface="Bricolage Grotesque SemiBold"/>
              </a:rPr>
              <a:t> Platform</a:t>
            </a:r>
            <a:endParaRPr dirty="0"/>
          </a:p>
        </p:txBody>
      </p:sp>
      <p:sp>
        <p:nvSpPr>
          <p:cNvPr id="6" name="Google Shape;133;p3">
            <a:extLst>
              <a:ext uri="{FF2B5EF4-FFF2-40B4-BE49-F238E27FC236}">
                <a16:creationId xmlns="" xmlns:a16="http://schemas.microsoft.com/office/drawing/2014/main" id="{276BE112-71CB-DB6D-0749-4F7F0B6901CC}"/>
              </a:ext>
            </a:extLst>
          </p:cNvPr>
          <p:cNvSpPr txBox="1"/>
          <p:nvPr/>
        </p:nvSpPr>
        <p:spPr>
          <a:xfrm>
            <a:off x="2409670" y="9367540"/>
            <a:ext cx="4010025" cy="383054"/>
          </a:xfrm>
          <a:prstGeom prst="rect">
            <a:avLst/>
          </a:prstGeom>
          <a:noFill/>
          <a:ln>
            <a:noFill/>
          </a:ln>
        </p:spPr>
        <p:txBody>
          <a:bodyPr spcFirstLastPara="1" wrap="square" lIns="0" tIns="0" rIns="0" bIns="0" anchor="t" anchorCtr="0">
            <a:spAutoFit/>
          </a:bodyPr>
          <a:lstStyle/>
          <a:p>
            <a:pPr marL="0" marR="0" lvl="0" indent="0" algn="ctr" rtl="0">
              <a:lnSpc>
                <a:spcPct val="120009"/>
              </a:lnSpc>
              <a:spcBef>
                <a:spcPts val="0"/>
              </a:spcBef>
              <a:spcAft>
                <a:spcPts val="0"/>
              </a:spcAft>
              <a:buNone/>
            </a:pPr>
            <a:r>
              <a:rPr lang="en-US" sz="2074" b="1" dirty="0" smtClean="0">
                <a:solidFill>
                  <a:srgbClr val="FFFFFF"/>
                </a:solidFill>
                <a:latin typeface="Bricolage Grotesque"/>
                <a:ea typeface="Bricolage Grotesque"/>
                <a:cs typeface="Bricolage Grotesque"/>
                <a:sym typeface="Bricolage Grotesque"/>
              </a:rPr>
              <a:t>Invoice Generation Module</a:t>
            </a:r>
            <a:endParaRPr dirty="0"/>
          </a:p>
        </p:txBody>
      </p:sp>
      <p:sp>
        <p:nvSpPr>
          <p:cNvPr id="7" name="AutoShape 6" descr="Preview of 1787830748720_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p:cNvPicPr>
            <a:picLocks noChangeAspect="1"/>
          </p:cNvPicPr>
          <p:nvPr/>
        </p:nvPicPr>
        <p:blipFill>
          <a:blip r:embed="rId3"/>
          <a:stretch>
            <a:fillRect/>
          </a:stretch>
        </p:blipFill>
        <p:spPr>
          <a:xfrm>
            <a:off x="10914927" y="5903089"/>
            <a:ext cx="6043296" cy="3331886"/>
          </a:xfrm>
          <a:prstGeom prst="rect">
            <a:avLst/>
          </a:prstGeom>
        </p:spPr>
      </p:pic>
      <p:pic>
        <p:nvPicPr>
          <p:cNvPr id="12" name="Picture 11"/>
          <p:cNvPicPr>
            <a:picLocks noChangeAspect="1"/>
          </p:cNvPicPr>
          <p:nvPr/>
        </p:nvPicPr>
        <p:blipFill>
          <a:blip r:embed="rId4"/>
          <a:stretch>
            <a:fillRect/>
          </a:stretch>
        </p:blipFill>
        <p:spPr>
          <a:xfrm>
            <a:off x="1226916" y="6012638"/>
            <a:ext cx="6794340" cy="3354901"/>
          </a:xfrm>
          <a:prstGeom prst="rect">
            <a:avLst/>
          </a:prstGeom>
        </p:spPr>
      </p:pic>
      <p:pic>
        <p:nvPicPr>
          <p:cNvPr id="14" name="Picture 13"/>
          <p:cNvPicPr>
            <a:picLocks noChangeAspect="1"/>
          </p:cNvPicPr>
          <p:nvPr/>
        </p:nvPicPr>
        <p:blipFill>
          <a:blip r:embed="rId5"/>
          <a:stretch>
            <a:fillRect/>
          </a:stretch>
        </p:blipFill>
        <p:spPr>
          <a:xfrm>
            <a:off x="1079656" y="2075936"/>
            <a:ext cx="6941600" cy="3033624"/>
          </a:xfrm>
          <a:prstGeom prst="rect">
            <a:avLst/>
          </a:prstGeom>
        </p:spPr>
      </p:pic>
      <p:pic>
        <p:nvPicPr>
          <p:cNvPr id="15" name="Picture 14"/>
          <p:cNvPicPr>
            <a:picLocks noChangeAspect="1"/>
          </p:cNvPicPr>
          <p:nvPr/>
        </p:nvPicPr>
        <p:blipFill>
          <a:blip r:embed="rId6"/>
          <a:stretch>
            <a:fillRect/>
          </a:stretch>
        </p:blipFill>
        <p:spPr>
          <a:xfrm>
            <a:off x="9823238" y="1871114"/>
            <a:ext cx="7366479" cy="3427159"/>
          </a:xfrm>
          <a:prstGeom prst="rect">
            <a:avLst/>
          </a:prstGeom>
        </p:spPr>
      </p:pic>
    </p:spTree>
    <p:extLst>
      <p:ext uri="{BB962C8B-B14F-4D97-AF65-F5344CB8AC3E}">
        <p14:creationId xmlns:p14="http://schemas.microsoft.com/office/powerpoint/2010/main" val="2274807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F4A"/>
        </a:solidFill>
        <a:effectLst/>
      </p:bgPr>
    </p:bg>
    <p:spTree>
      <p:nvGrpSpPr>
        <p:cNvPr id="1" name="Shape 125"/>
        <p:cNvGrpSpPr/>
        <p:nvPr/>
      </p:nvGrpSpPr>
      <p:grpSpPr>
        <a:xfrm>
          <a:off x="0" y="0"/>
          <a:ext cx="0" cy="0"/>
          <a:chOff x="0" y="0"/>
          <a:chExt cx="0" cy="0"/>
        </a:xfrm>
      </p:grpSpPr>
      <p:sp>
        <p:nvSpPr>
          <p:cNvPr id="127" name="Google Shape;127;p3"/>
          <p:cNvSpPr txBox="1"/>
          <p:nvPr/>
        </p:nvSpPr>
        <p:spPr>
          <a:xfrm>
            <a:off x="9474686" y="5272440"/>
            <a:ext cx="8273075" cy="383054"/>
          </a:xfrm>
          <a:prstGeom prst="rect">
            <a:avLst/>
          </a:prstGeom>
          <a:noFill/>
          <a:ln>
            <a:noFill/>
          </a:ln>
        </p:spPr>
        <p:txBody>
          <a:bodyPr spcFirstLastPara="1" wrap="square" lIns="0" tIns="0" rIns="0" bIns="0" anchor="t" anchorCtr="0">
            <a:spAutoFit/>
          </a:bodyPr>
          <a:lstStyle/>
          <a:p>
            <a:pPr marL="0" marR="0" lvl="0" indent="0" algn="ctr" rtl="0">
              <a:lnSpc>
                <a:spcPct val="120009"/>
              </a:lnSpc>
              <a:spcBef>
                <a:spcPts val="0"/>
              </a:spcBef>
              <a:spcAft>
                <a:spcPts val="0"/>
              </a:spcAft>
              <a:buNone/>
            </a:pPr>
            <a:r>
              <a:rPr lang="en-US" sz="2074" b="1" dirty="0">
                <a:solidFill>
                  <a:srgbClr val="FFFFFF"/>
                </a:solidFill>
                <a:latin typeface="Bricolage Grotesque"/>
                <a:sym typeface="Bricolage Grotesque"/>
              </a:rPr>
              <a:t>Dashboard &amp; Analytics</a:t>
            </a:r>
            <a:endParaRPr dirty="0">
              <a:solidFill>
                <a:schemeClr val="bg1"/>
              </a:solidFill>
            </a:endParaRPr>
          </a:p>
        </p:txBody>
      </p:sp>
      <p:grpSp>
        <p:nvGrpSpPr>
          <p:cNvPr id="129" name="Google Shape;129;p3"/>
          <p:cNvGrpSpPr/>
          <p:nvPr/>
        </p:nvGrpSpPr>
        <p:grpSpPr>
          <a:xfrm>
            <a:off x="958646" y="5185568"/>
            <a:ext cx="9144000" cy="873593"/>
            <a:chOff x="0" y="0"/>
            <a:chExt cx="10658529" cy="1164791"/>
          </a:xfrm>
        </p:grpSpPr>
        <p:sp>
          <p:nvSpPr>
            <p:cNvPr id="130" name="Google Shape;130;p3"/>
            <p:cNvSpPr txBox="1"/>
            <p:nvPr/>
          </p:nvSpPr>
          <p:spPr>
            <a:xfrm>
              <a:off x="0" y="0"/>
              <a:ext cx="8003820" cy="510739"/>
            </a:xfrm>
            <a:prstGeom prst="rect">
              <a:avLst/>
            </a:prstGeom>
            <a:noFill/>
            <a:ln>
              <a:noFill/>
            </a:ln>
          </p:spPr>
          <p:txBody>
            <a:bodyPr spcFirstLastPara="1" wrap="square" lIns="0" tIns="0" rIns="0" bIns="0" anchor="t" anchorCtr="0">
              <a:spAutoFit/>
            </a:bodyPr>
            <a:lstStyle/>
            <a:p>
              <a:pPr marL="0" marR="0" lvl="0" indent="0" algn="ctr" rtl="0">
                <a:lnSpc>
                  <a:spcPct val="120009"/>
                </a:lnSpc>
                <a:spcBef>
                  <a:spcPts val="0"/>
                </a:spcBef>
                <a:spcAft>
                  <a:spcPts val="0"/>
                </a:spcAft>
                <a:buNone/>
              </a:pPr>
              <a:r>
                <a:rPr lang="en-US" sz="2074" b="1" dirty="0">
                  <a:solidFill>
                    <a:srgbClr val="FFFFFF"/>
                  </a:solidFill>
                  <a:latin typeface="Bricolage Grotesque"/>
                  <a:sym typeface="Bricolage Grotesque"/>
                </a:rPr>
                <a:t>User Authentication &amp; Role-Based Access</a:t>
              </a:r>
              <a:endParaRPr dirty="0">
                <a:solidFill>
                  <a:schemeClr val="bg1"/>
                </a:solidFill>
              </a:endParaRPr>
            </a:p>
          </p:txBody>
        </p:sp>
        <p:sp>
          <p:nvSpPr>
            <p:cNvPr id="131" name="Google Shape;131;p3"/>
            <p:cNvSpPr txBox="1"/>
            <p:nvPr/>
          </p:nvSpPr>
          <p:spPr>
            <a:xfrm>
              <a:off x="0" y="654052"/>
              <a:ext cx="10658529" cy="510739"/>
            </a:xfrm>
            <a:prstGeom prst="rect">
              <a:avLst/>
            </a:prstGeom>
            <a:noFill/>
            <a:ln>
              <a:noFill/>
            </a:ln>
          </p:spPr>
          <p:txBody>
            <a:bodyPr spcFirstLastPara="1" wrap="square" lIns="0" tIns="0" rIns="0" bIns="0" anchor="t" anchorCtr="0">
              <a:spAutoFit/>
            </a:bodyPr>
            <a:lstStyle/>
            <a:p>
              <a:pPr marL="0" marR="0" lvl="0" indent="0" algn="ctr" rtl="0">
                <a:lnSpc>
                  <a:spcPct val="120009"/>
                </a:lnSpc>
                <a:spcBef>
                  <a:spcPts val="0"/>
                </a:spcBef>
                <a:spcAft>
                  <a:spcPts val="0"/>
                </a:spcAft>
                <a:buNone/>
              </a:pPr>
              <a:r>
                <a:rPr lang="en-US" sz="2074" dirty="0">
                  <a:solidFill>
                    <a:srgbClr val="FFFFFF"/>
                  </a:solidFill>
                </a:rPr>
                <a:t> </a:t>
              </a:r>
              <a:endParaRPr dirty="0"/>
            </a:p>
          </p:txBody>
        </p:sp>
      </p:grpSp>
      <p:sp>
        <p:nvSpPr>
          <p:cNvPr id="133" name="Google Shape;133;p3"/>
          <p:cNvSpPr txBox="1"/>
          <p:nvPr/>
        </p:nvSpPr>
        <p:spPr>
          <a:xfrm>
            <a:off x="11366861" y="9367539"/>
            <a:ext cx="4010025" cy="383054"/>
          </a:xfrm>
          <a:prstGeom prst="rect">
            <a:avLst/>
          </a:prstGeom>
          <a:noFill/>
          <a:ln>
            <a:noFill/>
          </a:ln>
        </p:spPr>
        <p:txBody>
          <a:bodyPr spcFirstLastPara="1" wrap="square" lIns="0" tIns="0" rIns="0" bIns="0" anchor="t" anchorCtr="0">
            <a:spAutoFit/>
          </a:bodyPr>
          <a:lstStyle/>
          <a:p>
            <a:pPr marL="0" marR="0" lvl="0" indent="0" algn="ctr" rtl="0">
              <a:lnSpc>
                <a:spcPct val="120009"/>
              </a:lnSpc>
              <a:spcBef>
                <a:spcPts val="0"/>
              </a:spcBef>
              <a:spcAft>
                <a:spcPts val="0"/>
              </a:spcAft>
              <a:buNone/>
            </a:pPr>
            <a:r>
              <a:rPr lang="en-US" sz="2074" b="1" dirty="0">
                <a:solidFill>
                  <a:srgbClr val="FFFFFF"/>
                </a:solidFill>
                <a:latin typeface="Bricolage Grotesque"/>
                <a:sym typeface="Bricolage Grotesque"/>
              </a:rPr>
              <a:t>Purchase Management</a:t>
            </a:r>
            <a:endParaRPr dirty="0">
              <a:solidFill>
                <a:schemeClr val="bg1"/>
              </a:solidFill>
            </a:endParaRPr>
          </a:p>
        </p:txBody>
      </p:sp>
      <p:sp>
        <p:nvSpPr>
          <p:cNvPr id="135" name="Google Shape;135;p3"/>
          <p:cNvSpPr txBox="1"/>
          <p:nvPr/>
        </p:nvSpPr>
        <p:spPr>
          <a:xfrm>
            <a:off x="666750" y="800100"/>
            <a:ext cx="16954500" cy="107709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200" b="1" i="0" u="none" strike="noStrike" cap="none" dirty="0">
                <a:solidFill>
                  <a:srgbClr val="FFFFFF"/>
                </a:solidFill>
                <a:latin typeface="Bricolage Grotesque SemiBold"/>
                <a:ea typeface="Bricolage Grotesque SemiBold"/>
                <a:cs typeface="Bricolage Grotesque SemiBold"/>
                <a:sym typeface="Bricolage Grotesque SemiBold"/>
              </a:rPr>
              <a:t>Core Features of </a:t>
            </a:r>
            <a:r>
              <a:rPr lang="en-US" sz="5200" b="1" i="0" u="none" strike="noStrike" cap="none" dirty="0" err="1">
                <a:solidFill>
                  <a:srgbClr val="FFFFFF"/>
                </a:solidFill>
                <a:latin typeface="Bricolage Grotesque SemiBold"/>
                <a:ea typeface="Bricolage Grotesque SemiBold"/>
                <a:cs typeface="Bricolage Grotesque SemiBold"/>
                <a:sym typeface="Bricolage Grotesque SemiBold"/>
              </a:rPr>
              <a:t>Medi</a:t>
            </a:r>
            <a:r>
              <a:rPr lang="en-US" sz="5200" b="1" dirty="0" err="1">
                <a:solidFill>
                  <a:srgbClr val="FFFFFF"/>
                </a:solidFill>
                <a:latin typeface="Bricolage Grotesque SemiBold"/>
                <a:ea typeface="Bricolage Grotesque SemiBold"/>
                <a:cs typeface="Bricolage Grotesque SemiBold"/>
                <a:sym typeface="Bricolage Grotesque SemiBold"/>
              </a:rPr>
              <a:t>S</a:t>
            </a:r>
            <a:r>
              <a:rPr lang="en-US" sz="5200" b="1" i="0" u="none" strike="noStrike" cap="none" dirty="0" err="1">
                <a:solidFill>
                  <a:srgbClr val="FFFFFF"/>
                </a:solidFill>
                <a:latin typeface="Bricolage Grotesque SemiBold"/>
                <a:ea typeface="Bricolage Grotesque SemiBold"/>
                <a:cs typeface="Bricolage Grotesque SemiBold"/>
                <a:sym typeface="Bricolage Grotesque SemiBold"/>
              </a:rPr>
              <a:t>tock</a:t>
            </a:r>
            <a:r>
              <a:rPr lang="en-US" sz="5200" b="1" i="0" u="none" strike="noStrike" cap="none" dirty="0">
                <a:solidFill>
                  <a:srgbClr val="FFFFFF"/>
                </a:solidFill>
                <a:latin typeface="Bricolage Grotesque SemiBold"/>
                <a:ea typeface="Bricolage Grotesque SemiBold"/>
                <a:cs typeface="Bricolage Grotesque SemiBold"/>
                <a:sym typeface="Bricolage Grotesque SemiBold"/>
              </a:rPr>
              <a:t> Platform</a:t>
            </a:r>
            <a:endParaRPr dirty="0"/>
          </a:p>
        </p:txBody>
      </p:sp>
      <p:sp>
        <p:nvSpPr>
          <p:cNvPr id="20" name="Google Shape;133;p3">
            <a:extLst>
              <a:ext uri="{FF2B5EF4-FFF2-40B4-BE49-F238E27FC236}">
                <a16:creationId xmlns="" xmlns:a16="http://schemas.microsoft.com/office/drawing/2014/main" id="{D69F786C-31EC-AA93-5F1A-144951852F25}"/>
              </a:ext>
            </a:extLst>
          </p:cNvPr>
          <p:cNvSpPr txBox="1"/>
          <p:nvPr/>
        </p:nvSpPr>
        <p:spPr>
          <a:xfrm>
            <a:off x="1937721" y="9367539"/>
            <a:ext cx="4010025" cy="383054"/>
          </a:xfrm>
          <a:prstGeom prst="rect">
            <a:avLst/>
          </a:prstGeom>
          <a:noFill/>
          <a:ln>
            <a:noFill/>
          </a:ln>
        </p:spPr>
        <p:txBody>
          <a:bodyPr spcFirstLastPara="1" wrap="square" lIns="0" tIns="0" rIns="0" bIns="0" anchor="t" anchorCtr="0">
            <a:spAutoFit/>
          </a:bodyPr>
          <a:lstStyle/>
          <a:p>
            <a:pPr marL="0" marR="0" lvl="0" indent="0" algn="ctr" rtl="0">
              <a:lnSpc>
                <a:spcPct val="120009"/>
              </a:lnSpc>
              <a:spcBef>
                <a:spcPts val="0"/>
              </a:spcBef>
              <a:spcAft>
                <a:spcPts val="0"/>
              </a:spcAft>
              <a:buNone/>
            </a:pPr>
            <a:r>
              <a:rPr lang="en-US" sz="2074" b="1" dirty="0">
                <a:solidFill>
                  <a:srgbClr val="FFFFFF"/>
                </a:solidFill>
                <a:latin typeface="Bricolage Grotesque"/>
                <a:sym typeface="Bricolage Grotesque"/>
              </a:rPr>
              <a:t>Reports</a:t>
            </a:r>
            <a:endParaRPr dirty="0">
              <a:solidFill>
                <a:schemeClr val="bg1"/>
              </a:solidFill>
            </a:endParaRPr>
          </a:p>
        </p:txBody>
      </p:sp>
      <p:pic>
        <p:nvPicPr>
          <p:cNvPr id="13" name="Picture 12"/>
          <p:cNvPicPr>
            <a:picLocks noChangeAspect="1"/>
          </p:cNvPicPr>
          <p:nvPr/>
        </p:nvPicPr>
        <p:blipFill>
          <a:blip r:embed="rId3"/>
          <a:stretch>
            <a:fillRect/>
          </a:stretch>
        </p:blipFill>
        <p:spPr>
          <a:xfrm>
            <a:off x="1143448" y="1908732"/>
            <a:ext cx="6813099" cy="3245294"/>
          </a:xfrm>
          <a:prstGeom prst="rect">
            <a:avLst/>
          </a:prstGeom>
        </p:spPr>
      </p:pic>
      <p:pic>
        <p:nvPicPr>
          <p:cNvPr id="2" name="Picture 1"/>
          <p:cNvPicPr>
            <a:picLocks noChangeAspect="1"/>
          </p:cNvPicPr>
          <p:nvPr/>
        </p:nvPicPr>
        <p:blipFill>
          <a:blip r:embed="rId4"/>
          <a:stretch>
            <a:fillRect/>
          </a:stretch>
        </p:blipFill>
        <p:spPr>
          <a:xfrm>
            <a:off x="9647777" y="1851505"/>
            <a:ext cx="7764318" cy="3484419"/>
          </a:xfrm>
          <a:prstGeom prst="rect">
            <a:avLst/>
          </a:prstGeom>
        </p:spPr>
      </p:pic>
      <p:pic>
        <p:nvPicPr>
          <p:cNvPr id="3" name="Picture 2"/>
          <p:cNvPicPr>
            <a:picLocks noChangeAspect="1"/>
          </p:cNvPicPr>
          <p:nvPr/>
        </p:nvPicPr>
        <p:blipFill>
          <a:blip r:embed="rId5"/>
          <a:stretch>
            <a:fillRect/>
          </a:stretch>
        </p:blipFill>
        <p:spPr>
          <a:xfrm>
            <a:off x="1143448" y="5971140"/>
            <a:ext cx="6813099" cy="3348307"/>
          </a:xfrm>
          <a:prstGeom prst="rect">
            <a:avLst/>
          </a:prstGeom>
        </p:spPr>
      </p:pic>
      <p:pic>
        <p:nvPicPr>
          <p:cNvPr id="4" name="Picture 3"/>
          <p:cNvPicPr>
            <a:picLocks noChangeAspect="1"/>
          </p:cNvPicPr>
          <p:nvPr/>
        </p:nvPicPr>
        <p:blipFill>
          <a:blip r:embed="rId6"/>
          <a:stretch>
            <a:fillRect/>
          </a:stretch>
        </p:blipFill>
        <p:spPr>
          <a:xfrm>
            <a:off x="9583838" y="6058012"/>
            <a:ext cx="7828257" cy="31741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30733"/>
        </a:solidFill>
        <a:effectLst/>
      </p:bgPr>
    </p:bg>
    <p:spTree>
      <p:nvGrpSpPr>
        <p:cNvPr id="1" name="Shape 142"/>
        <p:cNvGrpSpPr/>
        <p:nvPr/>
      </p:nvGrpSpPr>
      <p:grpSpPr>
        <a:xfrm>
          <a:off x="0" y="0"/>
          <a:ext cx="0" cy="0"/>
          <a:chOff x="0" y="0"/>
          <a:chExt cx="0" cy="0"/>
        </a:xfrm>
      </p:grpSpPr>
      <p:sp>
        <p:nvSpPr>
          <p:cNvPr id="143" name="Google Shape;143;p4"/>
          <p:cNvSpPr txBox="1"/>
          <p:nvPr/>
        </p:nvSpPr>
        <p:spPr>
          <a:xfrm>
            <a:off x="666750" y="800100"/>
            <a:ext cx="5987700" cy="51360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675" b="1" i="0" u="none" strike="noStrike" cap="none" dirty="0">
                <a:solidFill>
                  <a:srgbClr val="FFFFFF"/>
                </a:solidFill>
                <a:latin typeface="Bricolage Grotesque"/>
                <a:ea typeface="Bricolage Grotesque"/>
                <a:cs typeface="Bricolage Grotesque"/>
                <a:sym typeface="Bricolage Grotesque"/>
              </a:rPr>
              <a:t>Challenges Facing Medical Inventory Management</a:t>
            </a:r>
            <a:endParaRPr dirty="0"/>
          </a:p>
        </p:txBody>
      </p:sp>
      <p:grpSp>
        <p:nvGrpSpPr>
          <p:cNvPr id="144" name="Google Shape;144;p4"/>
          <p:cNvGrpSpPr/>
          <p:nvPr/>
        </p:nvGrpSpPr>
        <p:grpSpPr>
          <a:xfrm>
            <a:off x="7858467" y="1519774"/>
            <a:ext cx="854762" cy="415636"/>
            <a:chOff x="0" y="-38100"/>
            <a:chExt cx="769424" cy="374139"/>
          </a:xfrm>
        </p:grpSpPr>
        <p:sp>
          <p:nvSpPr>
            <p:cNvPr id="145" name="Google Shape;145;p4"/>
            <p:cNvSpPr/>
            <p:nvPr/>
          </p:nvSpPr>
          <p:spPr>
            <a:xfrm>
              <a:off x="0" y="0"/>
              <a:ext cx="769424" cy="336039"/>
            </a:xfrm>
            <a:custGeom>
              <a:avLst/>
              <a:gdLst/>
              <a:ahLst/>
              <a:cxnLst/>
              <a:rect l="l" t="t" r="r" b="b"/>
              <a:pathLst>
                <a:path w="769424" h="336039" extrusionOk="0">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30733"/>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txBox="1"/>
            <p:nvPr/>
          </p:nvSpPr>
          <p:spPr>
            <a:xfrm>
              <a:off x="0" y="-38100"/>
              <a:ext cx="769424" cy="374139"/>
            </a:xfrm>
            <a:prstGeom prst="rect">
              <a:avLst/>
            </a:prstGeom>
            <a:noFill/>
            <a:ln>
              <a:noFill/>
            </a:ln>
          </p:spPr>
          <p:txBody>
            <a:bodyPr spcFirstLastPara="1" wrap="square" lIns="75525" tIns="75525" rIns="75525" bIns="75525" anchor="ctr" anchorCtr="0">
              <a:noAutofit/>
            </a:bodyPr>
            <a:lstStyle/>
            <a:p>
              <a:pPr marL="0" marR="0" lvl="0" indent="0" algn="ctr" rtl="0">
                <a:lnSpc>
                  <a:spcPct val="96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7" name="Google Shape;147;p4"/>
          <p:cNvGrpSpPr/>
          <p:nvPr/>
        </p:nvGrpSpPr>
        <p:grpSpPr>
          <a:xfrm>
            <a:off x="12872519" y="6449582"/>
            <a:ext cx="854762" cy="415636"/>
            <a:chOff x="0" y="-38100"/>
            <a:chExt cx="769424" cy="374139"/>
          </a:xfrm>
        </p:grpSpPr>
        <p:sp>
          <p:nvSpPr>
            <p:cNvPr id="148" name="Google Shape;148;p4"/>
            <p:cNvSpPr/>
            <p:nvPr/>
          </p:nvSpPr>
          <p:spPr>
            <a:xfrm>
              <a:off x="0" y="0"/>
              <a:ext cx="769424" cy="336039"/>
            </a:xfrm>
            <a:custGeom>
              <a:avLst/>
              <a:gdLst/>
              <a:ahLst/>
              <a:cxnLst/>
              <a:rect l="l" t="t" r="r" b="b"/>
              <a:pathLst>
                <a:path w="769424" h="336039" extrusionOk="0">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30733"/>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4"/>
            <p:cNvSpPr txBox="1"/>
            <p:nvPr/>
          </p:nvSpPr>
          <p:spPr>
            <a:xfrm>
              <a:off x="0" y="-38100"/>
              <a:ext cx="769424" cy="374139"/>
            </a:xfrm>
            <a:prstGeom prst="rect">
              <a:avLst/>
            </a:prstGeom>
            <a:noFill/>
            <a:ln>
              <a:noFill/>
            </a:ln>
          </p:spPr>
          <p:txBody>
            <a:bodyPr spcFirstLastPara="1" wrap="square" lIns="75525" tIns="75525" rIns="75525" bIns="75525" anchor="ctr" anchorCtr="0">
              <a:noAutofit/>
            </a:bodyPr>
            <a:lstStyle/>
            <a:p>
              <a:pPr marL="0" marR="0" lvl="0" indent="0" algn="ctr" rtl="0">
                <a:lnSpc>
                  <a:spcPct val="96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0" name="Google Shape;150;p4"/>
          <p:cNvGrpSpPr/>
          <p:nvPr/>
        </p:nvGrpSpPr>
        <p:grpSpPr>
          <a:xfrm>
            <a:off x="7858074" y="6365776"/>
            <a:ext cx="854762" cy="415636"/>
            <a:chOff x="0" y="-38100"/>
            <a:chExt cx="769424" cy="374139"/>
          </a:xfrm>
        </p:grpSpPr>
        <p:sp>
          <p:nvSpPr>
            <p:cNvPr id="151" name="Google Shape;151;p4"/>
            <p:cNvSpPr/>
            <p:nvPr/>
          </p:nvSpPr>
          <p:spPr>
            <a:xfrm>
              <a:off x="0" y="0"/>
              <a:ext cx="769424" cy="336039"/>
            </a:xfrm>
            <a:custGeom>
              <a:avLst/>
              <a:gdLst/>
              <a:ahLst/>
              <a:cxnLst/>
              <a:rect l="l" t="t" r="r" b="b"/>
              <a:pathLst>
                <a:path w="769424" h="336039" extrusionOk="0">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30733"/>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txBox="1"/>
            <p:nvPr/>
          </p:nvSpPr>
          <p:spPr>
            <a:xfrm>
              <a:off x="0" y="-38100"/>
              <a:ext cx="769424" cy="374139"/>
            </a:xfrm>
            <a:prstGeom prst="rect">
              <a:avLst/>
            </a:prstGeom>
            <a:noFill/>
            <a:ln>
              <a:noFill/>
            </a:ln>
          </p:spPr>
          <p:txBody>
            <a:bodyPr spcFirstLastPara="1" wrap="square" lIns="75525" tIns="75525" rIns="75525" bIns="75525" anchor="ctr" anchorCtr="0">
              <a:noAutofit/>
            </a:bodyPr>
            <a:lstStyle/>
            <a:p>
              <a:pPr marL="0" marR="0" lvl="0" indent="0" algn="ctr" rtl="0">
                <a:lnSpc>
                  <a:spcPct val="96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3" name="Google Shape;153;p4"/>
          <p:cNvGrpSpPr/>
          <p:nvPr/>
        </p:nvGrpSpPr>
        <p:grpSpPr>
          <a:xfrm>
            <a:off x="12872519" y="1519774"/>
            <a:ext cx="854762" cy="415636"/>
            <a:chOff x="0" y="-38100"/>
            <a:chExt cx="769424" cy="374139"/>
          </a:xfrm>
        </p:grpSpPr>
        <p:sp>
          <p:nvSpPr>
            <p:cNvPr id="154" name="Google Shape;154;p4"/>
            <p:cNvSpPr/>
            <p:nvPr/>
          </p:nvSpPr>
          <p:spPr>
            <a:xfrm>
              <a:off x="0" y="0"/>
              <a:ext cx="769424" cy="336039"/>
            </a:xfrm>
            <a:custGeom>
              <a:avLst/>
              <a:gdLst/>
              <a:ahLst/>
              <a:cxnLst/>
              <a:rect l="l" t="t" r="r" b="b"/>
              <a:pathLst>
                <a:path w="769424" h="336039" extrusionOk="0">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30733"/>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txBox="1"/>
            <p:nvPr/>
          </p:nvSpPr>
          <p:spPr>
            <a:xfrm>
              <a:off x="0" y="-38100"/>
              <a:ext cx="769424" cy="374139"/>
            </a:xfrm>
            <a:prstGeom prst="rect">
              <a:avLst/>
            </a:prstGeom>
            <a:noFill/>
            <a:ln>
              <a:noFill/>
            </a:ln>
          </p:spPr>
          <p:txBody>
            <a:bodyPr spcFirstLastPara="1" wrap="square" lIns="75525" tIns="75525" rIns="75525" bIns="75525" anchor="ctr" anchorCtr="0">
              <a:noAutofit/>
            </a:bodyPr>
            <a:lstStyle/>
            <a:p>
              <a:pPr marL="0" marR="0" lvl="0" indent="0" algn="ctr" rtl="0">
                <a:lnSpc>
                  <a:spcPct val="96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6" name="Google Shape;156;p4"/>
          <p:cNvGrpSpPr/>
          <p:nvPr/>
        </p:nvGrpSpPr>
        <p:grpSpPr>
          <a:xfrm>
            <a:off x="12872519" y="2288105"/>
            <a:ext cx="4748625" cy="1407081"/>
            <a:chOff x="0" y="0"/>
            <a:chExt cx="6331500" cy="1876106"/>
          </a:xfrm>
        </p:grpSpPr>
        <p:sp>
          <p:nvSpPr>
            <p:cNvPr id="157" name="Google Shape;157;p4"/>
            <p:cNvSpPr txBox="1"/>
            <p:nvPr/>
          </p:nvSpPr>
          <p:spPr>
            <a:xfrm>
              <a:off x="0" y="0"/>
              <a:ext cx="6331500" cy="590930"/>
            </a:xfrm>
            <a:prstGeom prst="rect">
              <a:avLst/>
            </a:prstGeom>
            <a:noFill/>
            <a:ln>
              <a:noFill/>
            </a:ln>
          </p:spPr>
          <p:txBody>
            <a:bodyPr spcFirstLastPara="1" wrap="square" lIns="0" tIns="0" rIns="0" bIns="0" anchor="t" anchorCtr="0">
              <a:spAutoFit/>
            </a:bodyPr>
            <a:lstStyle/>
            <a:p>
              <a:pPr lvl="0">
                <a:lnSpc>
                  <a:spcPct val="119983"/>
                </a:lnSpc>
              </a:pPr>
              <a:r>
                <a:rPr lang="en-US" sz="2400" dirty="0">
                  <a:solidFill>
                    <a:srgbClr val="FFFFFF"/>
                  </a:solidFill>
                </a:rPr>
                <a:t>Expiry Tracking Risk</a:t>
              </a:r>
              <a:endParaRPr dirty="0">
                <a:solidFill>
                  <a:schemeClr val="bg1"/>
                </a:solidFill>
              </a:endParaRPr>
            </a:p>
          </p:txBody>
        </p:sp>
        <p:sp>
          <p:nvSpPr>
            <p:cNvPr id="158" name="Google Shape;158;p4"/>
            <p:cNvSpPr txBox="1"/>
            <p:nvPr/>
          </p:nvSpPr>
          <p:spPr>
            <a:xfrm>
              <a:off x="0" y="727075"/>
              <a:ext cx="6331500" cy="1149031"/>
            </a:xfrm>
            <a:prstGeom prst="rect">
              <a:avLst/>
            </a:prstGeom>
            <a:noFill/>
            <a:ln>
              <a:noFill/>
            </a:ln>
          </p:spPr>
          <p:txBody>
            <a:bodyPr spcFirstLastPara="1" wrap="square" lIns="0" tIns="0" rIns="0" bIns="0" anchor="t" anchorCtr="0">
              <a:spAutoFit/>
            </a:bodyPr>
            <a:lstStyle/>
            <a:p>
              <a:pPr lvl="0">
                <a:lnSpc>
                  <a:spcPct val="140000"/>
                </a:lnSpc>
              </a:pPr>
              <a:r>
                <a:rPr lang="en-US" sz="2000" dirty="0">
                  <a:solidFill>
                    <a:srgbClr val="FFFFFF"/>
                  </a:solidFill>
                </a:rPr>
                <a:t>Medicines are at risk of expiring without timely identification of expiry dates.</a:t>
              </a:r>
              <a:endParaRPr dirty="0">
                <a:solidFill>
                  <a:schemeClr val="bg1"/>
                </a:solidFill>
              </a:endParaRPr>
            </a:p>
          </p:txBody>
        </p:sp>
      </p:grpSp>
      <p:grpSp>
        <p:nvGrpSpPr>
          <p:cNvPr id="159" name="Google Shape;159;p4"/>
          <p:cNvGrpSpPr/>
          <p:nvPr/>
        </p:nvGrpSpPr>
        <p:grpSpPr>
          <a:xfrm>
            <a:off x="7858075" y="2288100"/>
            <a:ext cx="4748675" cy="1898584"/>
            <a:chOff x="-67" y="-225800"/>
            <a:chExt cx="6331567" cy="2531446"/>
          </a:xfrm>
        </p:grpSpPr>
        <p:sp>
          <p:nvSpPr>
            <p:cNvPr id="160" name="Google Shape;160;p4"/>
            <p:cNvSpPr txBox="1"/>
            <p:nvPr/>
          </p:nvSpPr>
          <p:spPr>
            <a:xfrm>
              <a:off x="-67" y="-225800"/>
              <a:ext cx="6331501" cy="590931"/>
            </a:xfrm>
            <a:prstGeom prst="rect">
              <a:avLst/>
            </a:prstGeom>
            <a:noFill/>
            <a:ln>
              <a:noFill/>
            </a:ln>
          </p:spPr>
          <p:txBody>
            <a:bodyPr spcFirstLastPara="1" wrap="square" lIns="0" tIns="0" rIns="0" bIns="0" anchor="t" anchorCtr="0">
              <a:spAutoFit/>
            </a:bodyPr>
            <a:lstStyle/>
            <a:p>
              <a:pPr lvl="0">
                <a:lnSpc>
                  <a:spcPct val="119983"/>
                </a:lnSpc>
              </a:pPr>
              <a:r>
                <a:rPr lang="en-US" sz="2400" dirty="0">
                  <a:solidFill>
                    <a:srgbClr val="FFFFFF"/>
                  </a:solidFill>
                </a:rPr>
                <a:t>Manual Stock Handling</a:t>
              </a:r>
              <a:endParaRPr dirty="0">
                <a:solidFill>
                  <a:schemeClr val="bg1"/>
                </a:solidFill>
              </a:endParaRPr>
            </a:p>
          </p:txBody>
        </p:sp>
        <p:sp>
          <p:nvSpPr>
            <p:cNvPr id="161" name="Google Shape;161;p4"/>
            <p:cNvSpPr txBox="1"/>
            <p:nvPr/>
          </p:nvSpPr>
          <p:spPr>
            <a:xfrm>
              <a:off x="0" y="582096"/>
              <a:ext cx="6331500" cy="1723550"/>
            </a:xfrm>
            <a:prstGeom prst="rect">
              <a:avLst/>
            </a:prstGeom>
            <a:noFill/>
            <a:ln>
              <a:noFill/>
            </a:ln>
          </p:spPr>
          <p:txBody>
            <a:bodyPr spcFirstLastPara="1" wrap="square" lIns="0" tIns="0" rIns="0" bIns="0" anchor="t" anchorCtr="0">
              <a:spAutoFit/>
            </a:bodyPr>
            <a:lstStyle/>
            <a:p>
              <a:pPr lvl="0">
                <a:lnSpc>
                  <a:spcPct val="140000"/>
                </a:lnSpc>
              </a:pPr>
              <a:r>
                <a:rPr lang="en-US" sz="2000" dirty="0">
                  <a:solidFill>
                    <a:srgbClr val="FFFFFF"/>
                  </a:solidFill>
                </a:rPr>
                <a:t>Maintaining accurate and up-to-date medicine stock records manually is difficult.</a:t>
              </a:r>
              <a:endParaRPr lang="en-US" sz="1920" dirty="0">
                <a:solidFill>
                  <a:schemeClr val="bg1"/>
                </a:solidFill>
              </a:endParaRPr>
            </a:p>
          </p:txBody>
        </p:sp>
      </p:grpSp>
      <p:grpSp>
        <p:nvGrpSpPr>
          <p:cNvPr id="162" name="Google Shape;162;p4"/>
          <p:cNvGrpSpPr/>
          <p:nvPr/>
        </p:nvGrpSpPr>
        <p:grpSpPr>
          <a:xfrm>
            <a:off x="7858074" y="4652702"/>
            <a:ext cx="4748625" cy="1372584"/>
            <a:chOff x="0" y="0"/>
            <a:chExt cx="6331500" cy="1830111"/>
          </a:xfrm>
        </p:grpSpPr>
        <p:sp>
          <p:nvSpPr>
            <p:cNvPr id="163" name="Google Shape;163;p4"/>
            <p:cNvSpPr txBox="1"/>
            <p:nvPr/>
          </p:nvSpPr>
          <p:spPr>
            <a:xfrm>
              <a:off x="0" y="0"/>
              <a:ext cx="6331500" cy="587768"/>
            </a:xfrm>
            <a:prstGeom prst="rect">
              <a:avLst/>
            </a:prstGeom>
            <a:noFill/>
            <a:ln>
              <a:noFill/>
            </a:ln>
          </p:spPr>
          <p:txBody>
            <a:bodyPr spcFirstLastPara="1" wrap="square" lIns="0" tIns="0" rIns="0" bIns="0" anchor="t" anchorCtr="0">
              <a:spAutoFit/>
            </a:bodyPr>
            <a:lstStyle/>
            <a:p>
              <a:pPr lvl="0">
                <a:lnSpc>
                  <a:spcPct val="119983"/>
                </a:lnSpc>
              </a:pPr>
              <a:r>
                <a:rPr lang="en-US" sz="2387" b="1" dirty="0">
                  <a:solidFill>
                    <a:srgbClr val="FFFFFF"/>
                  </a:solidFill>
                  <a:latin typeface="Bricolage Grotesque"/>
                  <a:sym typeface="Bricolage Grotesque"/>
                </a:rPr>
                <a:t>Low-Stock Detection</a:t>
              </a:r>
              <a:endParaRPr lang="en-US" sz="2400" dirty="0">
                <a:solidFill>
                  <a:schemeClr val="bg1"/>
                </a:solidFill>
              </a:endParaRPr>
            </a:p>
          </p:txBody>
        </p:sp>
        <p:sp>
          <p:nvSpPr>
            <p:cNvPr id="164" name="Google Shape;164;p4"/>
            <p:cNvSpPr txBox="1"/>
            <p:nvPr/>
          </p:nvSpPr>
          <p:spPr>
            <a:xfrm>
              <a:off x="0" y="727075"/>
              <a:ext cx="6331500" cy="110303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920" dirty="0">
                  <a:solidFill>
                    <a:srgbClr val="FFFFFF"/>
                  </a:solidFill>
                </a:rPr>
                <a:t>Difficulty in identifying medicines that are running low or out of stock.</a:t>
              </a:r>
              <a:endParaRPr dirty="0">
                <a:solidFill>
                  <a:schemeClr val="bg1"/>
                </a:solidFill>
              </a:endParaRPr>
            </a:p>
          </p:txBody>
        </p:sp>
      </p:grpSp>
      <p:grpSp>
        <p:nvGrpSpPr>
          <p:cNvPr id="165" name="Google Shape;165;p4"/>
          <p:cNvGrpSpPr/>
          <p:nvPr/>
        </p:nvGrpSpPr>
        <p:grpSpPr>
          <a:xfrm>
            <a:off x="12861754" y="4654385"/>
            <a:ext cx="5987708" cy="1709698"/>
            <a:chOff x="347967" y="-86473"/>
            <a:chExt cx="7983610" cy="2279596"/>
          </a:xfrm>
        </p:grpSpPr>
        <p:sp>
          <p:nvSpPr>
            <p:cNvPr id="166" name="Google Shape;166;p4"/>
            <p:cNvSpPr txBox="1"/>
            <p:nvPr/>
          </p:nvSpPr>
          <p:spPr>
            <a:xfrm>
              <a:off x="347978" y="-86473"/>
              <a:ext cx="7983599" cy="590930"/>
            </a:xfrm>
            <a:prstGeom prst="rect">
              <a:avLst/>
            </a:prstGeom>
            <a:noFill/>
            <a:ln>
              <a:noFill/>
            </a:ln>
          </p:spPr>
          <p:txBody>
            <a:bodyPr spcFirstLastPara="1" wrap="square" lIns="0" tIns="0" rIns="0" bIns="0" anchor="t" anchorCtr="0">
              <a:spAutoFit/>
            </a:bodyPr>
            <a:lstStyle/>
            <a:p>
              <a:pPr lvl="0">
                <a:lnSpc>
                  <a:spcPct val="119983"/>
                </a:lnSpc>
              </a:pPr>
              <a:r>
                <a:rPr lang="en-US" sz="2400" dirty="0">
                  <a:solidFill>
                    <a:srgbClr val="FFFFFF"/>
                  </a:solidFill>
                </a:rPr>
                <a:t>Centralized Stock View</a:t>
              </a:r>
              <a:endParaRPr dirty="0">
                <a:solidFill>
                  <a:schemeClr val="bg1"/>
                </a:solidFill>
              </a:endParaRPr>
            </a:p>
          </p:txBody>
        </p:sp>
        <p:sp>
          <p:nvSpPr>
            <p:cNvPr id="167" name="Google Shape;167;p4"/>
            <p:cNvSpPr txBox="1"/>
            <p:nvPr/>
          </p:nvSpPr>
          <p:spPr>
            <a:xfrm>
              <a:off x="347967" y="469575"/>
              <a:ext cx="6331499" cy="1723548"/>
            </a:xfrm>
            <a:prstGeom prst="rect">
              <a:avLst/>
            </a:prstGeom>
            <a:noFill/>
            <a:ln>
              <a:noFill/>
            </a:ln>
          </p:spPr>
          <p:txBody>
            <a:bodyPr spcFirstLastPara="1" wrap="square" lIns="0" tIns="0" rIns="0" bIns="0" anchor="t" anchorCtr="0">
              <a:spAutoFit/>
            </a:bodyPr>
            <a:lstStyle/>
            <a:p>
              <a:pPr lvl="0">
                <a:lnSpc>
                  <a:spcPct val="140000"/>
                </a:lnSpc>
              </a:pPr>
              <a:r>
                <a:rPr lang="en-US" sz="2000" dirty="0">
                  <a:solidFill>
                    <a:srgbClr val="FFFFFF"/>
                  </a:solidFill>
                </a:rPr>
                <a:t>Getting a single, complete overview of stock, purchases, and inventory activities is challenging.</a:t>
              </a:r>
              <a:endParaRPr dirty="0">
                <a:solidFill>
                  <a:schemeClr val="bg1"/>
                </a:solidFill>
              </a:endParaRPr>
            </a:p>
          </p:txBody>
        </p:sp>
      </p:grpSp>
      <p:grpSp>
        <p:nvGrpSpPr>
          <p:cNvPr id="168" name="Google Shape;168;p4"/>
          <p:cNvGrpSpPr/>
          <p:nvPr/>
        </p:nvGrpSpPr>
        <p:grpSpPr>
          <a:xfrm rot="10800000">
            <a:off x="-1034932" y="6996006"/>
            <a:ext cx="3454198" cy="4601348"/>
            <a:chOff x="-67779" y="-102347"/>
            <a:chExt cx="4605597" cy="6135131"/>
          </a:xfrm>
        </p:grpSpPr>
        <p:grpSp>
          <p:nvGrpSpPr>
            <p:cNvPr id="169" name="Google Shape;169;p4"/>
            <p:cNvGrpSpPr/>
            <p:nvPr/>
          </p:nvGrpSpPr>
          <p:grpSpPr>
            <a:xfrm rot="-2700000">
              <a:off x="-86577" y="2937338"/>
              <a:ext cx="4441804" cy="1786685"/>
              <a:chOff x="0" y="-19050"/>
              <a:chExt cx="882773" cy="355089"/>
            </a:xfrm>
          </p:grpSpPr>
          <p:sp>
            <p:nvSpPr>
              <p:cNvPr id="170" name="Google Shape;170;p4"/>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4"/>
              <p:cNvSpPr txBox="1"/>
              <p:nvPr/>
            </p:nvSpPr>
            <p:spPr>
              <a:xfrm>
                <a:off x="0" y="-19050"/>
                <a:ext cx="882773" cy="355089"/>
              </a:xfrm>
              <a:prstGeom prst="rect">
                <a:avLst/>
              </a:prstGeom>
              <a:noFill/>
              <a:ln>
                <a:noFill/>
              </a:ln>
            </p:spPr>
            <p:txBody>
              <a:bodyPr spcFirstLastPara="1" wrap="square" lIns="152525" tIns="152525" rIns="152525" bIns="152525" anchor="ctr" anchorCtr="0">
                <a:noAutofit/>
              </a:bodyPr>
              <a:lstStyle/>
              <a:p>
                <a:pPr marL="0" marR="0" lvl="0" indent="0" algn="ctr" rtl="0">
                  <a:lnSpc>
                    <a:spcPct val="104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2" name="Google Shape;172;p4"/>
            <p:cNvGrpSpPr/>
            <p:nvPr/>
          </p:nvGrpSpPr>
          <p:grpSpPr>
            <a:xfrm rot="-2700000">
              <a:off x="68205" y="1208093"/>
              <a:ext cx="4471480" cy="1846868"/>
              <a:chOff x="0" y="-28575"/>
              <a:chExt cx="882773" cy="364614"/>
            </a:xfrm>
          </p:grpSpPr>
          <p:sp>
            <p:nvSpPr>
              <p:cNvPr id="173" name="Google Shape;173;p4"/>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B0AF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txBox="1"/>
              <p:nvPr/>
            </p:nvSpPr>
            <p:spPr>
              <a:xfrm>
                <a:off x="0" y="-28575"/>
                <a:ext cx="882773" cy="364614"/>
              </a:xfrm>
              <a:prstGeom prst="rect">
                <a:avLst/>
              </a:prstGeom>
              <a:noFill/>
              <a:ln>
                <a:noFill/>
              </a:ln>
            </p:spPr>
            <p:txBody>
              <a:bodyPr spcFirstLastPara="1" wrap="square" lIns="55700" tIns="55700" rIns="55700" bIns="55700" anchor="ctr" anchorCtr="0">
                <a:noAutofit/>
              </a:bodyPr>
              <a:lstStyle/>
              <a:p>
                <a:pPr marL="0" marR="0" lvl="0" indent="0" algn="ctr" rtl="0">
                  <a:lnSpc>
                    <a:spcPct val="93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75" name="Google Shape;175;p4"/>
          <p:cNvSpPr txBox="1"/>
          <p:nvPr/>
        </p:nvSpPr>
        <p:spPr>
          <a:xfrm>
            <a:off x="13196270" y="6408101"/>
            <a:ext cx="199377" cy="4985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700" b="1" dirty="0">
                <a:solidFill>
                  <a:srgbClr val="FFFFFF"/>
                </a:solidFill>
                <a:latin typeface="Bricolage Grotesque"/>
                <a:sym typeface="Bricolage Grotesque"/>
              </a:rPr>
              <a:t>6</a:t>
            </a:r>
            <a:endParaRPr dirty="0"/>
          </a:p>
        </p:txBody>
      </p:sp>
      <p:sp>
        <p:nvSpPr>
          <p:cNvPr id="176" name="Google Shape;176;p4"/>
          <p:cNvSpPr txBox="1"/>
          <p:nvPr/>
        </p:nvSpPr>
        <p:spPr>
          <a:xfrm>
            <a:off x="8128709" y="6364083"/>
            <a:ext cx="260376" cy="4985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700" b="1" dirty="0">
                <a:solidFill>
                  <a:srgbClr val="FFFFFF"/>
                </a:solidFill>
                <a:latin typeface="Bricolage Grotesque"/>
                <a:sym typeface="Bricolage Grotesque"/>
              </a:rPr>
              <a:t>5</a:t>
            </a:r>
            <a:endParaRPr dirty="0"/>
          </a:p>
        </p:txBody>
      </p:sp>
      <p:sp>
        <p:nvSpPr>
          <p:cNvPr id="177" name="Google Shape;177;p4"/>
          <p:cNvSpPr txBox="1"/>
          <p:nvPr/>
        </p:nvSpPr>
        <p:spPr>
          <a:xfrm>
            <a:off x="13186394" y="1543967"/>
            <a:ext cx="205482" cy="40957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700" b="1" i="0" u="none" strike="noStrike" cap="none">
                <a:solidFill>
                  <a:srgbClr val="FFFFFF"/>
                </a:solidFill>
                <a:latin typeface="Bricolage Grotesque"/>
                <a:ea typeface="Bricolage Grotesque"/>
                <a:cs typeface="Bricolage Grotesque"/>
                <a:sym typeface="Bricolage Grotesque"/>
              </a:rPr>
              <a:t>2</a:t>
            </a:r>
            <a:endParaRPr/>
          </a:p>
        </p:txBody>
      </p:sp>
      <p:sp>
        <p:nvSpPr>
          <p:cNvPr id="178" name="Google Shape;178;p4"/>
          <p:cNvSpPr txBox="1"/>
          <p:nvPr/>
        </p:nvSpPr>
        <p:spPr>
          <a:xfrm>
            <a:off x="8227209" y="1543967"/>
            <a:ext cx="117277" cy="40957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700" b="1" i="0" u="none" strike="noStrike" cap="none">
                <a:solidFill>
                  <a:srgbClr val="FFFFFF"/>
                </a:solidFill>
                <a:latin typeface="Bricolage Grotesque"/>
                <a:ea typeface="Bricolage Grotesque"/>
                <a:cs typeface="Bricolage Grotesque"/>
                <a:sym typeface="Bricolage Grotesque"/>
              </a:rPr>
              <a:t>1</a:t>
            </a:r>
            <a:endParaRPr/>
          </a:p>
        </p:txBody>
      </p:sp>
      <p:grpSp>
        <p:nvGrpSpPr>
          <p:cNvPr id="2" name="Google Shape;150;p4">
            <a:extLst>
              <a:ext uri="{FF2B5EF4-FFF2-40B4-BE49-F238E27FC236}">
                <a16:creationId xmlns="" xmlns:a16="http://schemas.microsoft.com/office/drawing/2014/main" id="{F6226859-0316-9F00-0843-B06BC38BBFC2}"/>
              </a:ext>
            </a:extLst>
          </p:cNvPr>
          <p:cNvGrpSpPr/>
          <p:nvPr/>
        </p:nvGrpSpPr>
        <p:grpSpPr>
          <a:xfrm>
            <a:off x="7858467" y="4147349"/>
            <a:ext cx="854762" cy="415636"/>
            <a:chOff x="0" y="-38100"/>
            <a:chExt cx="769424" cy="374139"/>
          </a:xfrm>
        </p:grpSpPr>
        <p:sp>
          <p:nvSpPr>
            <p:cNvPr id="3" name="Google Shape;151;p4">
              <a:extLst>
                <a:ext uri="{FF2B5EF4-FFF2-40B4-BE49-F238E27FC236}">
                  <a16:creationId xmlns="" xmlns:a16="http://schemas.microsoft.com/office/drawing/2014/main" id="{DC37BF35-8AE9-60B0-FFE4-946FADFE5F56}"/>
                </a:ext>
              </a:extLst>
            </p:cNvPr>
            <p:cNvSpPr/>
            <p:nvPr/>
          </p:nvSpPr>
          <p:spPr>
            <a:xfrm>
              <a:off x="0" y="0"/>
              <a:ext cx="769424" cy="336039"/>
            </a:xfrm>
            <a:custGeom>
              <a:avLst/>
              <a:gdLst/>
              <a:ahLst/>
              <a:cxnLst/>
              <a:rect l="l" t="t" r="r" b="b"/>
              <a:pathLst>
                <a:path w="769424" h="336039" extrusionOk="0">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30733"/>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52;p4">
              <a:extLst>
                <a:ext uri="{FF2B5EF4-FFF2-40B4-BE49-F238E27FC236}">
                  <a16:creationId xmlns="" xmlns:a16="http://schemas.microsoft.com/office/drawing/2014/main" id="{1F31AC04-52B9-BBDC-F3ED-3C375B97D19D}"/>
                </a:ext>
              </a:extLst>
            </p:cNvPr>
            <p:cNvSpPr txBox="1"/>
            <p:nvPr/>
          </p:nvSpPr>
          <p:spPr>
            <a:xfrm>
              <a:off x="0" y="-38100"/>
              <a:ext cx="769424" cy="374139"/>
            </a:xfrm>
            <a:prstGeom prst="rect">
              <a:avLst/>
            </a:prstGeom>
            <a:noFill/>
            <a:ln>
              <a:noFill/>
            </a:ln>
          </p:spPr>
          <p:txBody>
            <a:bodyPr spcFirstLastPara="1" wrap="square" lIns="75525" tIns="75525" rIns="75525" bIns="75525" anchor="ctr" anchorCtr="0">
              <a:noAutofit/>
            </a:bodyPr>
            <a:lstStyle/>
            <a:p>
              <a:pPr marL="0" marR="0" lvl="0" indent="0" algn="ctr" rtl="0">
                <a:lnSpc>
                  <a:spcPct val="96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 name="Google Shape;150;p4">
            <a:extLst>
              <a:ext uri="{FF2B5EF4-FFF2-40B4-BE49-F238E27FC236}">
                <a16:creationId xmlns="" xmlns:a16="http://schemas.microsoft.com/office/drawing/2014/main" id="{ADEF4801-5D9D-09ED-1590-502C22C59696}"/>
              </a:ext>
            </a:extLst>
          </p:cNvPr>
          <p:cNvGrpSpPr/>
          <p:nvPr/>
        </p:nvGrpSpPr>
        <p:grpSpPr>
          <a:xfrm>
            <a:off x="12861754" y="4002491"/>
            <a:ext cx="854762" cy="415636"/>
            <a:chOff x="0" y="-38100"/>
            <a:chExt cx="769424" cy="374139"/>
          </a:xfrm>
        </p:grpSpPr>
        <p:sp>
          <p:nvSpPr>
            <p:cNvPr id="6" name="Google Shape;151;p4">
              <a:extLst>
                <a:ext uri="{FF2B5EF4-FFF2-40B4-BE49-F238E27FC236}">
                  <a16:creationId xmlns="" xmlns:a16="http://schemas.microsoft.com/office/drawing/2014/main" id="{2D878B0A-4B6E-6EFF-7F8B-67B715CDCE40}"/>
                </a:ext>
              </a:extLst>
            </p:cNvPr>
            <p:cNvSpPr/>
            <p:nvPr/>
          </p:nvSpPr>
          <p:spPr>
            <a:xfrm>
              <a:off x="0" y="0"/>
              <a:ext cx="769424" cy="336039"/>
            </a:xfrm>
            <a:custGeom>
              <a:avLst/>
              <a:gdLst/>
              <a:ahLst/>
              <a:cxnLst/>
              <a:rect l="l" t="t" r="r" b="b"/>
              <a:pathLst>
                <a:path w="769424" h="336039" extrusionOk="0">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30733"/>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52;p4">
              <a:extLst>
                <a:ext uri="{FF2B5EF4-FFF2-40B4-BE49-F238E27FC236}">
                  <a16:creationId xmlns="" xmlns:a16="http://schemas.microsoft.com/office/drawing/2014/main" id="{B50569CE-5218-D88D-0F20-9484B67A2997}"/>
                </a:ext>
              </a:extLst>
            </p:cNvPr>
            <p:cNvSpPr txBox="1"/>
            <p:nvPr/>
          </p:nvSpPr>
          <p:spPr>
            <a:xfrm>
              <a:off x="0" y="-38100"/>
              <a:ext cx="769424" cy="374139"/>
            </a:xfrm>
            <a:prstGeom prst="rect">
              <a:avLst/>
            </a:prstGeom>
            <a:noFill/>
            <a:ln>
              <a:noFill/>
            </a:ln>
          </p:spPr>
          <p:txBody>
            <a:bodyPr spcFirstLastPara="1" wrap="square" lIns="75525" tIns="75525" rIns="75525" bIns="75525" anchor="ctr" anchorCtr="0">
              <a:noAutofit/>
            </a:bodyPr>
            <a:lstStyle/>
            <a:p>
              <a:pPr marL="0" marR="0" lvl="0" indent="0" algn="ctr" rtl="0">
                <a:lnSpc>
                  <a:spcPct val="96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 name="Google Shape;176;p4">
            <a:extLst>
              <a:ext uri="{FF2B5EF4-FFF2-40B4-BE49-F238E27FC236}">
                <a16:creationId xmlns="" xmlns:a16="http://schemas.microsoft.com/office/drawing/2014/main" id="{8B876525-A51B-1ADF-9F15-3079BCA5CC63}"/>
              </a:ext>
            </a:extLst>
          </p:cNvPr>
          <p:cNvSpPr txBox="1"/>
          <p:nvPr/>
        </p:nvSpPr>
        <p:spPr>
          <a:xfrm>
            <a:off x="8128709" y="4111013"/>
            <a:ext cx="314276" cy="498599"/>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700" b="1" i="0" u="none" strike="noStrike" cap="none" dirty="0">
                <a:solidFill>
                  <a:srgbClr val="FFFFFF"/>
                </a:solidFill>
                <a:latin typeface="Bricolage Grotesque"/>
                <a:ea typeface="Bricolage Grotesque"/>
                <a:cs typeface="Bricolage Grotesque"/>
                <a:sym typeface="Bricolage Grotesque"/>
              </a:rPr>
              <a:t>3</a:t>
            </a:r>
            <a:endParaRPr dirty="0"/>
          </a:p>
        </p:txBody>
      </p:sp>
      <p:sp>
        <p:nvSpPr>
          <p:cNvPr id="14" name="Google Shape;175;p4">
            <a:extLst>
              <a:ext uri="{FF2B5EF4-FFF2-40B4-BE49-F238E27FC236}">
                <a16:creationId xmlns="" xmlns:a16="http://schemas.microsoft.com/office/drawing/2014/main" id="{227B6066-6BCA-17D2-B59B-FC8BFBAD7730}"/>
              </a:ext>
            </a:extLst>
          </p:cNvPr>
          <p:cNvSpPr txBox="1"/>
          <p:nvPr/>
        </p:nvSpPr>
        <p:spPr>
          <a:xfrm>
            <a:off x="13131997" y="4020623"/>
            <a:ext cx="314276" cy="4985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700" b="1" i="0" u="none" strike="noStrike" cap="none" dirty="0">
                <a:solidFill>
                  <a:srgbClr val="FFFFFF"/>
                </a:solidFill>
                <a:latin typeface="Bricolage Grotesque"/>
                <a:ea typeface="Bricolage Grotesque"/>
                <a:cs typeface="Bricolage Grotesque"/>
                <a:sym typeface="Bricolage Grotesque"/>
              </a:rPr>
              <a:t>4</a:t>
            </a:r>
            <a:endParaRPr dirty="0"/>
          </a:p>
        </p:txBody>
      </p:sp>
      <p:sp>
        <p:nvSpPr>
          <p:cNvPr id="16" name="Google Shape;163;p4">
            <a:extLst>
              <a:ext uri="{FF2B5EF4-FFF2-40B4-BE49-F238E27FC236}">
                <a16:creationId xmlns="" xmlns:a16="http://schemas.microsoft.com/office/drawing/2014/main" id="{20546B1F-AAFD-D10D-B3F6-48032AFE1B28}"/>
              </a:ext>
            </a:extLst>
          </p:cNvPr>
          <p:cNvSpPr txBox="1"/>
          <p:nvPr/>
        </p:nvSpPr>
        <p:spPr>
          <a:xfrm>
            <a:off x="7660168" y="6919436"/>
            <a:ext cx="4748625" cy="443198"/>
          </a:xfrm>
          <a:prstGeom prst="rect">
            <a:avLst/>
          </a:prstGeom>
          <a:noFill/>
          <a:ln>
            <a:noFill/>
          </a:ln>
        </p:spPr>
        <p:txBody>
          <a:bodyPr spcFirstLastPara="1" wrap="square" lIns="0" tIns="0" rIns="0" bIns="0" anchor="t" anchorCtr="0">
            <a:spAutoFit/>
          </a:bodyPr>
          <a:lstStyle/>
          <a:p>
            <a:pPr lvl="0">
              <a:lnSpc>
                <a:spcPct val="119983"/>
              </a:lnSpc>
            </a:pPr>
            <a:r>
              <a:rPr lang="en-US" sz="2400" dirty="0">
                <a:solidFill>
                  <a:srgbClr val="FFFFFF"/>
                </a:solidFill>
              </a:rPr>
              <a:t>Supplier &amp; Order Handling</a:t>
            </a:r>
            <a:endParaRPr dirty="0">
              <a:solidFill>
                <a:schemeClr val="bg1"/>
              </a:solidFill>
            </a:endParaRPr>
          </a:p>
        </p:txBody>
      </p:sp>
      <p:grpSp>
        <p:nvGrpSpPr>
          <p:cNvPr id="17" name="Google Shape;165;p4">
            <a:extLst>
              <a:ext uri="{FF2B5EF4-FFF2-40B4-BE49-F238E27FC236}">
                <a16:creationId xmlns="" xmlns:a16="http://schemas.microsoft.com/office/drawing/2014/main" id="{1E06C212-1EB2-D496-0383-28BD3EA3520C}"/>
              </a:ext>
            </a:extLst>
          </p:cNvPr>
          <p:cNvGrpSpPr/>
          <p:nvPr/>
        </p:nvGrpSpPr>
        <p:grpSpPr>
          <a:xfrm>
            <a:off x="12872519" y="6971889"/>
            <a:ext cx="5987708" cy="1437438"/>
            <a:chOff x="347967" y="-86473"/>
            <a:chExt cx="7983610" cy="1916583"/>
          </a:xfrm>
        </p:grpSpPr>
        <p:sp>
          <p:nvSpPr>
            <p:cNvPr id="18" name="Google Shape;166;p4">
              <a:extLst>
                <a:ext uri="{FF2B5EF4-FFF2-40B4-BE49-F238E27FC236}">
                  <a16:creationId xmlns="" xmlns:a16="http://schemas.microsoft.com/office/drawing/2014/main" id="{56302CA2-94E8-26CA-C806-AB10679E6492}"/>
                </a:ext>
              </a:extLst>
            </p:cNvPr>
            <p:cNvSpPr txBox="1"/>
            <p:nvPr/>
          </p:nvSpPr>
          <p:spPr>
            <a:xfrm>
              <a:off x="347978" y="-86473"/>
              <a:ext cx="7983599" cy="587768"/>
            </a:xfrm>
            <a:prstGeom prst="rect">
              <a:avLst/>
            </a:prstGeom>
            <a:noFill/>
            <a:ln>
              <a:noFill/>
            </a:ln>
          </p:spPr>
          <p:txBody>
            <a:bodyPr spcFirstLastPara="1" wrap="square" lIns="0" tIns="0" rIns="0" bIns="0" anchor="t" anchorCtr="0">
              <a:spAutoFit/>
            </a:bodyPr>
            <a:lstStyle/>
            <a:p>
              <a:pPr marL="0" marR="0" lvl="0" indent="0" algn="l" rtl="0">
                <a:lnSpc>
                  <a:spcPct val="119983"/>
                </a:lnSpc>
                <a:spcBef>
                  <a:spcPts val="0"/>
                </a:spcBef>
                <a:spcAft>
                  <a:spcPts val="0"/>
                </a:spcAft>
                <a:buNone/>
              </a:pPr>
              <a:r>
                <a:rPr lang="en-US" sz="2387" b="1" dirty="0">
                  <a:solidFill>
                    <a:srgbClr val="FFFFFF"/>
                  </a:solidFill>
                  <a:latin typeface="Bricolage Grotesque"/>
                  <a:sym typeface="Bricolage Grotesque"/>
                </a:rPr>
                <a:t>Role-Based Access</a:t>
              </a:r>
              <a:endParaRPr dirty="0">
                <a:solidFill>
                  <a:schemeClr val="bg1"/>
                </a:solidFill>
              </a:endParaRPr>
            </a:p>
          </p:txBody>
        </p:sp>
        <p:sp>
          <p:nvSpPr>
            <p:cNvPr id="19" name="Google Shape;167;p4">
              <a:extLst>
                <a:ext uri="{FF2B5EF4-FFF2-40B4-BE49-F238E27FC236}">
                  <a16:creationId xmlns="" xmlns:a16="http://schemas.microsoft.com/office/drawing/2014/main" id="{053EDBF3-E9BA-E7C8-B37E-EC4B5DB28C05}"/>
                </a:ext>
              </a:extLst>
            </p:cNvPr>
            <p:cNvSpPr txBox="1"/>
            <p:nvPr/>
          </p:nvSpPr>
          <p:spPr>
            <a:xfrm>
              <a:off x="347967" y="727073"/>
              <a:ext cx="6331499" cy="11030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920" dirty="0">
                  <a:solidFill>
                    <a:srgbClr val="FFFFFF"/>
                  </a:solidFill>
                </a:rPr>
                <a:t>Different users require different levels of access to system functionalities.</a:t>
              </a:r>
              <a:endParaRPr dirty="0">
                <a:solidFill>
                  <a:schemeClr val="bg1"/>
                </a:solidFill>
              </a:endParaRPr>
            </a:p>
          </p:txBody>
        </p:sp>
      </p:grpSp>
      <p:sp>
        <p:nvSpPr>
          <p:cNvPr id="22" name="Google Shape;167;p4">
            <a:extLst>
              <a:ext uri="{FF2B5EF4-FFF2-40B4-BE49-F238E27FC236}">
                <a16:creationId xmlns="" xmlns:a16="http://schemas.microsoft.com/office/drawing/2014/main" id="{E00C1211-B378-0ED9-07AE-B2B865CE1728}"/>
              </a:ext>
            </a:extLst>
          </p:cNvPr>
          <p:cNvSpPr txBox="1"/>
          <p:nvPr/>
        </p:nvSpPr>
        <p:spPr>
          <a:xfrm>
            <a:off x="7661304" y="7520122"/>
            <a:ext cx="4748625" cy="861774"/>
          </a:xfrm>
          <a:prstGeom prst="rect">
            <a:avLst/>
          </a:prstGeom>
          <a:noFill/>
          <a:ln>
            <a:noFill/>
          </a:ln>
        </p:spPr>
        <p:txBody>
          <a:bodyPr spcFirstLastPara="1" wrap="square" lIns="0" tIns="0" rIns="0" bIns="0" anchor="t" anchorCtr="0">
            <a:spAutoFit/>
          </a:bodyPr>
          <a:lstStyle/>
          <a:p>
            <a:pPr lvl="0">
              <a:lnSpc>
                <a:spcPct val="140000"/>
              </a:lnSpc>
            </a:pPr>
            <a:r>
              <a:rPr lang="en-US" sz="2000" dirty="0">
                <a:solidFill>
                  <a:srgbClr val="FFFFFF"/>
                </a:solidFill>
              </a:rPr>
              <a:t>Managing suppliers, purchase orders, and medicine replacement becomes complex.</a:t>
            </a:r>
            <a:endParaRPr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30733"/>
        </a:solidFill>
        <a:effectLst/>
      </p:bgPr>
    </p:bg>
    <p:spTree>
      <p:nvGrpSpPr>
        <p:cNvPr id="1" name="Shape 182"/>
        <p:cNvGrpSpPr/>
        <p:nvPr/>
      </p:nvGrpSpPr>
      <p:grpSpPr>
        <a:xfrm>
          <a:off x="0" y="0"/>
          <a:ext cx="0" cy="0"/>
          <a:chOff x="0" y="0"/>
          <a:chExt cx="0" cy="0"/>
        </a:xfrm>
      </p:grpSpPr>
      <p:grpSp>
        <p:nvGrpSpPr>
          <p:cNvPr id="183" name="Google Shape;183;p5"/>
          <p:cNvGrpSpPr/>
          <p:nvPr/>
        </p:nvGrpSpPr>
        <p:grpSpPr>
          <a:xfrm rot="8100000">
            <a:off x="525617" y="-9281"/>
            <a:ext cx="3213084" cy="1405648"/>
            <a:chOff x="0" y="-38100"/>
            <a:chExt cx="882773" cy="374139"/>
          </a:xfrm>
        </p:grpSpPr>
        <p:sp>
          <p:nvSpPr>
            <p:cNvPr id="184" name="Google Shape;184;p5"/>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cmpd="sng">
              <a:solidFill>
                <a:srgbClr val="D4F59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txBox="1"/>
            <p:nvPr/>
          </p:nvSpPr>
          <p:spPr>
            <a:xfrm>
              <a:off x="0" y="-38100"/>
              <a:ext cx="882773" cy="374139"/>
            </a:xfrm>
            <a:prstGeom prst="rect">
              <a:avLst/>
            </a:prstGeom>
            <a:noFill/>
            <a:ln>
              <a:noFill/>
            </a:ln>
          </p:spPr>
          <p:txBody>
            <a:bodyPr spcFirstLastPara="1" wrap="square" lIns="51325" tIns="51325" rIns="51325" bIns="51325" anchor="ctr" anchorCtr="0">
              <a:noAutofit/>
            </a:bodyPr>
            <a:lstStyle/>
            <a:p>
              <a:pPr marL="0" marR="0" lvl="0" indent="0" algn="ctr" rtl="0">
                <a:lnSpc>
                  <a:spcPct val="108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6" name="Google Shape;186;p5"/>
          <p:cNvGrpSpPr/>
          <p:nvPr/>
        </p:nvGrpSpPr>
        <p:grpSpPr>
          <a:xfrm rot="8100000">
            <a:off x="15208237" y="9166581"/>
            <a:ext cx="3353610" cy="1421336"/>
            <a:chOff x="0" y="-38100"/>
            <a:chExt cx="882773" cy="374139"/>
          </a:xfrm>
        </p:grpSpPr>
        <p:sp>
          <p:nvSpPr>
            <p:cNvPr id="187" name="Google Shape;187;p5"/>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B0AF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txBox="1"/>
            <p:nvPr/>
          </p:nvSpPr>
          <p:spPr>
            <a:xfrm>
              <a:off x="0" y="-38100"/>
              <a:ext cx="882773" cy="374139"/>
            </a:xfrm>
            <a:prstGeom prst="rect">
              <a:avLst/>
            </a:prstGeom>
            <a:noFill/>
            <a:ln>
              <a:noFill/>
            </a:ln>
          </p:spPr>
          <p:txBody>
            <a:bodyPr spcFirstLastPara="1" wrap="square" lIns="18750" tIns="18750" rIns="18750" bIns="18750" anchor="ctr" anchorCtr="0">
              <a:noAutofit/>
            </a:bodyPr>
            <a:lstStyle/>
            <a:p>
              <a:pPr marL="0" marR="0" lvl="0" indent="0" algn="ctr" rtl="0">
                <a:lnSpc>
                  <a:spcPct val="96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1" name="Google Shape;191;p5"/>
          <p:cNvSpPr txBox="1"/>
          <p:nvPr/>
        </p:nvSpPr>
        <p:spPr>
          <a:xfrm>
            <a:off x="2997842" y="277792"/>
            <a:ext cx="16350943" cy="880241"/>
          </a:xfrm>
          <a:prstGeom prst="rect">
            <a:avLst/>
          </a:prstGeom>
          <a:noFill/>
          <a:ln>
            <a:noFill/>
          </a:ln>
        </p:spPr>
        <p:txBody>
          <a:bodyPr spcFirstLastPara="1" wrap="square" lIns="0" tIns="0" rIns="0" bIns="0" anchor="t" anchorCtr="0">
            <a:spAutoFit/>
          </a:bodyPr>
          <a:lstStyle/>
          <a:p>
            <a:pPr marL="0" marR="0" lvl="0" indent="0" algn="l" rtl="0">
              <a:lnSpc>
                <a:spcPct val="130019"/>
              </a:lnSpc>
              <a:spcBef>
                <a:spcPts val="0"/>
              </a:spcBef>
              <a:spcAft>
                <a:spcPts val="0"/>
              </a:spcAft>
              <a:buNone/>
            </a:pPr>
            <a:r>
              <a:rPr lang="en-US" sz="4400" b="1" i="0" u="none" strike="noStrike" cap="none" dirty="0" smtClean="0">
                <a:solidFill>
                  <a:srgbClr val="FFFFFF"/>
                </a:solidFill>
                <a:latin typeface="Bricolage Grotesque"/>
                <a:ea typeface="Bricolage Grotesque"/>
                <a:cs typeface="Bricolage Grotesque"/>
                <a:sym typeface="Bricolage Grotesque"/>
              </a:rPr>
              <a:t>                   System </a:t>
            </a:r>
            <a:r>
              <a:rPr lang="en-US" sz="4400" b="1" i="0" u="none" strike="noStrike" cap="none" dirty="0">
                <a:solidFill>
                  <a:srgbClr val="FFFFFF"/>
                </a:solidFill>
                <a:latin typeface="Bricolage Grotesque"/>
                <a:ea typeface="Bricolage Grotesque"/>
                <a:cs typeface="Bricolage Grotesque"/>
                <a:sym typeface="Bricolage Grotesque"/>
              </a:rPr>
              <a:t>Architecture Overview</a:t>
            </a:r>
            <a:endParaRPr sz="44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189" y="2225296"/>
            <a:ext cx="10781731" cy="7795004"/>
          </a:xfrm>
          <a:prstGeom prst="rect">
            <a:avLst/>
          </a:prstGeom>
        </p:spPr>
      </p:pic>
      <p:sp>
        <p:nvSpPr>
          <p:cNvPr id="6" name="Rectangle 5"/>
          <p:cNvSpPr/>
          <p:nvPr/>
        </p:nvSpPr>
        <p:spPr>
          <a:xfrm>
            <a:off x="11600598" y="3507475"/>
            <a:ext cx="6277970" cy="4154984"/>
          </a:xfrm>
          <a:prstGeom prst="rect">
            <a:avLst/>
          </a:prstGeom>
        </p:spPr>
        <p:txBody>
          <a:bodyPr wrap="square">
            <a:spAutoFit/>
          </a:bodyPr>
          <a:lstStyle/>
          <a:p>
            <a:r>
              <a:rPr lang="en-US" sz="2400" dirty="0">
                <a:solidFill>
                  <a:srgbClr val="FFFFFF"/>
                </a:solidFill>
              </a:rPr>
              <a:t>MEDISTOCK is a medical inventory management system built using React.js for the frontend, Spring Boot for the backend, and MySQL for data storage. It uses Spring Security, JWT and OAuth2 for secure authentication, while Hibernate/JPA manages database communication. The system handles medicines, suppliers, purchases, inventory, reports, notifications, and file storage, with deployment through Render.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30733"/>
        </a:solidFill>
        <a:effectLst/>
      </p:bgPr>
    </p:bg>
    <p:spTree>
      <p:nvGrpSpPr>
        <p:cNvPr id="1" name="Shape 182"/>
        <p:cNvGrpSpPr/>
        <p:nvPr/>
      </p:nvGrpSpPr>
      <p:grpSpPr>
        <a:xfrm>
          <a:off x="0" y="0"/>
          <a:ext cx="0" cy="0"/>
          <a:chOff x="0" y="0"/>
          <a:chExt cx="0" cy="0"/>
        </a:xfrm>
      </p:grpSpPr>
      <p:grpSp>
        <p:nvGrpSpPr>
          <p:cNvPr id="183" name="Google Shape;183;p5"/>
          <p:cNvGrpSpPr/>
          <p:nvPr/>
        </p:nvGrpSpPr>
        <p:grpSpPr>
          <a:xfrm rot="8100000">
            <a:off x="525617" y="-9281"/>
            <a:ext cx="3213084" cy="1405648"/>
            <a:chOff x="0" y="-38100"/>
            <a:chExt cx="882773" cy="374139"/>
          </a:xfrm>
        </p:grpSpPr>
        <p:sp>
          <p:nvSpPr>
            <p:cNvPr id="184" name="Google Shape;184;p5"/>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cmpd="sng">
              <a:solidFill>
                <a:srgbClr val="D4F59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txBox="1"/>
            <p:nvPr/>
          </p:nvSpPr>
          <p:spPr>
            <a:xfrm>
              <a:off x="0" y="-38100"/>
              <a:ext cx="882773" cy="374139"/>
            </a:xfrm>
            <a:prstGeom prst="rect">
              <a:avLst/>
            </a:prstGeom>
            <a:noFill/>
            <a:ln>
              <a:noFill/>
            </a:ln>
          </p:spPr>
          <p:txBody>
            <a:bodyPr spcFirstLastPara="1" wrap="square" lIns="51325" tIns="51325" rIns="51325" bIns="51325" anchor="ctr" anchorCtr="0">
              <a:noAutofit/>
            </a:bodyPr>
            <a:lstStyle/>
            <a:p>
              <a:pPr marL="0" marR="0" lvl="0" indent="0" algn="ctr" rtl="0">
                <a:lnSpc>
                  <a:spcPct val="108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6" name="Google Shape;186;p5"/>
          <p:cNvGrpSpPr/>
          <p:nvPr/>
        </p:nvGrpSpPr>
        <p:grpSpPr>
          <a:xfrm rot="8100000">
            <a:off x="15208237" y="9166581"/>
            <a:ext cx="3353610" cy="1421336"/>
            <a:chOff x="0" y="-38100"/>
            <a:chExt cx="882773" cy="374139"/>
          </a:xfrm>
        </p:grpSpPr>
        <p:sp>
          <p:nvSpPr>
            <p:cNvPr id="187" name="Google Shape;187;p5"/>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B0AF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txBox="1"/>
            <p:nvPr/>
          </p:nvSpPr>
          <p:spPr>
            <a:xfrm>
              <a:off x="0" y="-38100"/>
              <a:ext cx="882773" cy="374139"/>
            </a:xfrm>
            <a:prstGeom prst="rect">
              <a:avLst/>
            </a:prstGeom>
            <a:noFill/>
            <a:ln>
              <a:noFill/>
            </a:ln>
          </p:spPr>
          <p:txBody>
            <a:bodyPr spcFirstLastPara="1" wrap="square" lIns="18750" tIns="18750" rIns="18750" bIns="18750" anchor="ctr" anchorCtr="0">
              <a:noAutofit/>
            </a:bodyPr>
            <a:lstStyle/>
            <a:p>
              <a:pPr marL="0" marR="0" lvl="0" indent="0" algn="ctr" rtl="0">
                <a:lnSpc>
                  <a:spcPct val="96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1" name="Google Shape;191;p5"/>
          <p:cNvSpPr txBox="1"/>
          <p:nvPr/>
        </p:nvSpPr>
        <p:spPr>
          <a:xfrm>
            <a:off x="2915956" y="350003"/>
            <a:ext cx="16350943" cy="1691297"/>
          </a:xfrm>
          <a:prstGeom prst="rect">
            <a:avLst/>
          </a:prstGeom>
          <a:noFill/>
          <a:ln>
            <a:noFill/>
          </a:ln>
        </p:spPr>
        <p:txBody>
          <a:bodyPr spcFirstLastPara="1" wrap="square" lIns="0" tIns="0" rIns="0" bIns="0" anchor="t" anchorCtr="0">
            <a:spAutoFit/>
          </a:bodyPr>
          <a:lstStyle/>
          <a:p>
            <a:pPr lvl="0">
              <a:lnSpc>
                <a:spcPct val="130019"/>
              </a:lnSpc>
            </a:pPr>
            <a:r>
              <a:rPr lang="en-US" sz="4054" b="1" dirty="0" smtClean="0">
                <a:solidFill>
                  <a:srgbClr val="FFFFFF"/>
                </a:solidFill>
                <a:latin typeface="Bricolage Grotesque"/>
                <a:ea typeface="Bricolage Grotesque"/>
                <a:cs typeface="Bricolage Grotesque"/>
                <a:sym typeface="Bricolage Grotesque"/>
              </a:rPr>
              <a:t>                            </a:t>
            </a:r>
            <a:r>
              <a:rPr lang="en-US" sz="4400" b="1" dirty="0" smtClean="0">
                <a:solidFill>
                  <a:srgbClr val="FFFFFF"/>
                </a:solidFill>
                <a:latin typeface="Bricolage Grotesque"/>
                <a:ea typeface="Bricolage Grotesque"/>
                <a:cs typeface="Bricolage Grotesque"/>
                <a:sym typeface="Bricolage Grotesque"/>
              </a:rPr>
              <a:t>Workflow </a:t>
            </a:r>
            <a:r>
              <a:rPr lang="en-US" sz="4400" b="1" dirty="0">
                <a:solidFill>
                  <a:srgbClr val="FFFFFF"/>
                </a:solidFill>
                <a:latin typeface="Bricolage Grotesque"/>
                <a:ea typeface="Bricolage Grotesque"/>
                <a:cs typeface="Bricolage Grotesque"/>
                <a:sym typeface="Bricolage Grotesque"/>
              </a:rPr>
              <a:t>Diagram</a:t>
            </a:r>
          </a:p>
          <a:p>
            <a:pPr lvl="0">
              <a:lnSpc>
                <a:spcPct val="130019"/>
              </a:lnSpc>
            </a:pPr>
            <a:r>
              <a:rPr lang="en-US" sz="4054" b="1" dirty="0">
                <a:solidFill>
                  <a:srgbClr val="FFFFFF"/>
                </a:solidFill>
                <a:latin typeface="Bricolage Grotesque"/>
                <a:ea typeface="Bricolage Grotesque"/>
                <a:cs typeface="Bricolage Grotesque"/>
                <a:sym typeface="Bricolage Grotesque"/>
              </a:rPr>
              <a:t> </a:t>
            </a:r>
            <a:endParaRPr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188" y="2074460"/>
            <a:ext cx="9368143" cy="7861110"/>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188" y="2041300"/>
            <a:ext cx="9368143" cy="7861110"/>
          </a:xfrm>
          <a:prstGeom prst="rect">
            <a:avLst/>
          </a:prstGeom>
        </p:spPr>
      </p:pic>
      <p:sp>
        <p:nvSpPr>
          <p:cNvPr id="2" name="Rectangle 1"/>
          <p:cNvSpPr/>
          <p:nvPr/>
        </p:nvSpPr>
        <p:spPr>
          <a:xfrm>
            <a:off x="10234459" y="3725838"/>
            <a:ext cx="7698699" cy="3046988"/>
          </a:xfrm>
          <a:prstGeom prst="rect">
            <a:avLst/>
          </a:prstGeom>
        </p:spPr>
        <p:txBody>
          <a:bodyPr wrap="square">
            <a:spAutoFit/>
          </a:bodyPr>
          <a:lstStyle/>
          <a:p>
            <a:r>
              <a:rPr lang="en-US" sz="2400" b="1" dirty="0">
                <a:solidFill>
                  <a:srgbClr val="FFFFFF"/>
                </a:solidFill>
              </a:rPr>
              <a:t>MEDISTOCK workflow starts with user login and JWT authentication, followed by dashboard access. Users can manage medicines, suppliers, purchases, stock, batches and expiry. All data is stored in MySQL, while the system provides reports, notifications, backups and cloud deployment, resulting in efficient and accurate inventory control.</a:t>
            </a:r>
            <a:endParaRPr lang="en-US" sz="2400" dirty="0">
              <a:solidFill>
                <a:schemeClr val="bg1"/>
              </a:solidFill>
            </a:endParaRPr>
          </a:p>
        </p:txBody>
      </p:sp>
    </p:spTree>
    <p:extLst>
      <p:ext uri="{BB962C8B-B14F-4D97-AF65-F5344CB8AC3E}">
        <p14:creationId xmlns:p14="http://schemas.microsoft.com/office/powerpoint/2010/main" val="3258007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30733"/>
        </a:solidFill>
        <a:effectLst/>
      </p:bgPr>
    </p:bg>
    <p:spTree>
      <p:nvGrpSpPr>
        <p:cNvPr id="1" name="Shape 195"/>
        <p:cNvGrpSpPr/>
        <p:nvPr/>
      </p:nvGrpSpPr>
      <p:grpSpPr>
        <a:xfrm>
          <a:off x="0" y="0"/>
          <a:ext cx="0" cy="0"/>
          <a:chOff x="0" y="0"/>
          <a:chExt cx="0" cy="0"/>
        </a:xfrm>
      </p:grpSpPr>
      <p:sp>
        <p:nvSpPr>
          <p:cNvPr id="196" name="Google Shape;196;p6"/>
          <p:cNvSpPr txBox="1"/>
          <p:nvPr/>
        </p:nvSpPr>
        <p:spPr>
          <a:xfrm>
            <a:off x="289367" y="891251"/>
            <a:ext cx="5926620" cy="225061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875" b="1" i="0" u="none" strike="noStrike" cap="none" dirty="0">
                <a:solidFill>
                  <a:srgbClr val="FFFFFF"/>
                </a:solidFill>
                <a:latin typeface="Bricolage Grotesque"/>
                <a:ea typeface="Bricolage Grotesque"/>
                <a:cs typeface="Bricolage Grotesque"/>
                <a:sym typeface="Bricolage Grotesque"/>
              </a:rPr>
              <a:t>Challenges and Solutions </a:t>
            </a:r>
            <a:r>
              <a:rPr lang="en-US" sz="4875" b="1" dirty="0">
                <a:solidFill>
                  <a:srgbClr val="FFFFFF"/>
                </a:solidFill>
                <a:latin typeface="Bricolage Grotesque"/>
                <a:ea typeface="Bricolage Grotesque"/>
                <a:cs typeface="Bricolage Grotesque"/>
                <a:sym typeface="Bricolage Grotesque"/>
              </a:rPr>
              <a:t>in </a:t>
            </a:r>
            <a:r>
              <a:rPr lang="en-US" sz="4875" b="1" dirty="0" err="1">
                <a:solidFill>
                  <a:srgbClr val="FFFFFF"/>
                </a:solidFill>
                <a:latin typeface="Bricolage Grotesque"/>
                <a:ea typeface="Bricolage Grotesque"/>
                <a:cs typeface="Bricolage Grotesque"/>
                <a:sym typeface="Bricolage Grotesque"/>
              </a:rPr>
              <a:t>MediStock</a:t>
            </a:r>
            <a:endParaRPr dirty="0"/>
          </a:p>
        </p:txBody>
      </p:sp>
      <p:grpSp>
        <p:nvGrpSpPr>
          <p:cNvPr id="197" name="Google Shape;197;p6"/>
          <p:cNvGrpSpPr/>
          <p:nvPr/>
        </p:nvGrpSpPr>
        <p:grpSpPr>
          <a:xfrm>
            <a:off x="7858467" y="1519774"/>
            <a:ext cx="854762" cy="415636"/>
            <a:chOff x="0" y="-38100"/>
            <a:chExt cx="769424" cy="374139"/>
          </a:xfrm>
        </p:grpSpPr>
        <p:sp>
          <p:nvSpPr>
            <p:cNvPr id="198" name="Google Shape;198;p6"/>
            <p:cNvSpPr/>
            <p:nvPr/>
          </p:nvSpPr>
          <p:spPr>
            <a:xfrm>
              <a:off x="0" y="0"/>
              <a:ext cx="769424" cy="336039"/>
            </a:xfrm>
            <a:custGeom>
              <a:avLst/>
              <a:gdLst/>
              <a:ahLst/>
              <a:cxnLst/>
              <a:rect l="l" t="t" r="r" b="b"/>
              <a:pathLst>
                <a:path w="769424" h="336039" extrusionOk="0">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30733"/>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txBox="1"/>
            <p:nvPr/>
          </p:nvSpPr>
          <p:spPr>
            <a:xfrm>
              <a:off x="0" y="-38100"/>
              <a:ext cx="769424" cy="374139"/>
            </a:xfrm>
            <a:prstGeom prst="rect">
              <a:avLst/>
            </a:prstGeom>
            <a:noFill/>
            <a:ln>
              <a:noFill/>
            </a:ln>
          </p:spPr>
          <p:txBody>
            <a:bodyPr spcFirstLastPara="1" wrap="square" lIns="75525" tIns="75525" rIns="75525" bIns="75525" anchor="ctr" anchorCtr="0">
              <a:noAutofit/>
            </a:bodyPr>
            <a:lstStyle/>
            <a:p>
              <a:pPr marL="0" marR="0" lvl="0" indent="0" algn="ctr" rtl="0">
                <a:lnSpc>
                  <a:spcPct val="97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0" name="Google Shape;200;p6"/>
          <p:cNvGrpSpPr/>
          <p:nvPr/>
        </p:nvGrpSpPr>
        <p:grpSpPr>
          <a:xfrm>
            <a:off x="12872519" y="5996524"/>
            <a:ext cx="854762" cy="415636"/>
            <a:chOff x="0" y="-38100"/>
            <a:chExt cx="769424" cy="374139"/>
          </a:xfrm>
        </p:grpSpPr>
        <p:sp>
          <p:nvSpPr>
            <p:cNvPr id="201" name="Google Shape;201;p6"/>
            <p:cNvSpPr/>
            <p:nvPr/>
          </p:nvSpPr>
          <p:spPr>
            <a:xfrm>
              <a:off x="0" y="0"/>
              <a:ext cx="769424" cy="336039"/>
            </a:xfrm>
            <a:custGeom>
              <a:avLst/>
              <a:gdLst/>
              <a:ahLst/>
              <a:cxnLst/>
              <a:rect l="l" t="t" r="r" b="b"/>
              <a:pathLst>
                <a:path w="769424" h="336039" extrusionOk="0">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30733"/>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6"/>
            <p:cNvSpPr txBox="1"/>
            <p:nvPr/>
          </p:nvSpPr>
          <p:spPr>
            <a:xfrm>
              <a:off x="0" y="-38100"/>
              <a:ext cx="769424" cy="374139"/>
            </a:xfrm>
            <a:prstGeom prst="rect">
              <a:avLst/>
            </a:prstGeom>
            <a:noFill/>
            <a:ln>
              <a:noFill/>
            </a:ln>
          </p:spPr>
          <p:txBody>
            <a:bodyPr spcFirstLastPara="1" wrap="square" lIns="75525" tIns="75525" rIns="75525" bIns="75525" anchor="ctr" anchorCtr="0">
              <a:noAutofit/>
            </a:bodyPr>
            <a:lstStyle/>
            <a:p>
              <a:pPr marL="0" marR="0" lvl="0" indent="0" algn="ctr" rtl="0">
                <a:lnSpc>
                  <a:spcPct val="97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3" name="Google Shape;203;p6"/>
          <p:cNvGrpSpPr/>
          <p:nvPr/>
        </p:nvGrpSpPr>
        <p:grpSpPr>
          <a:xfrm>
            <a:off x="7858467" y="5996524"/>
            <a:ext cx="854762" cy="415636"/>
            <a:chOff x="0" y="-38100"/>
            <a:chExt cx="769424" cy="374139"/>
          </a:xfrm>
        </p:grpSpPr>
        <p:sp>
          <p:nvSpPr>
            <p:cNvPr id="204" name="Google Shape;204;p6"/>
            <p:cNvSpPr/>
            <p:nvPr/>
          </p:nvSpPr>
          <p:spPr>
            <a:xfrm>
              <a:off x="0" y="0"/>
              <a:ext cx="769424" cy="336039"/>
            </a:xfrm>
            <a:custGeom>
              <a:avLst/>
              <a:gdLst/>
              <a:ahLst/>
              <a:cxnLst/>
              <a:rect l="l" t="t" r="r" b="b"/>
              <a:pathLst>
                <a:path w="769424" h="336039" extrusionOk="0">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30733"/>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txBox="1"/>
            <p:nvPr/>
          </p:nvSpPr>
          <p:spPr>
            <a:xfrm>
              <a:off x="0" y="-38100"/>
              <a:ext cx="769424" cy="374139"/>
            </a:xfrm>
            <a:prstGeom prst="rect">
              <a:avLst/>
            </a:prstGeom>
            <a:noFill/>
            <a:ln>
              <a:noFill/>
            </a:ln>
          </p:spPr>
          <p:txBody>
            <a:bodyPr spcFirstLastPara="1" wrap="square" lIns="75525" tIns="75525" rIns="75525" bIns="75525" anchor="ctr" anchorCtr="0">
              <a:noAutofit/>
            </a:bodyPr>
            <a:lstStyle/>
            <a:p>
              <a:pPr marL="0" marR="0" lvl="0" indent="0" algn="ctr" rtl="0">
                <a:lnSpc>
                  <a:spcPct val="97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6" name="Google Shape;206;p6"/>
          <p:cNvGrpSpPr/>
          <p:nvPr/>
        </p:nvGrpSpPr>
        <p:grpSpPr>
          <a:xfrm>
            <a:off x="12872519" y="1519774"/>
            <a:ext cx="854762" cy="415636"/>
            <a:chOff x="0" y="-38100"/>
            <a:chExt cx="769424" cy="374139"/>
          </a:xfrm>
        </p:grpSpPr>
        <p:sp>
          <p:nvSpPr>
            <p:cNvPr id="207" name="Google Shape;207;p6"/>
            <p:cNvSpPr/>
            <p:nvPr/>
          </p:nvSpPr>
          <p:spPr>
            <a:xfrm>
              <a:off x="0" y="0"/>
              <a:ext cx="769424" cy="336039"/>
            </a:xfrm>
            <a:custGeom>
              <a:avLst/>
              <a:gdLst/>
              <a:ahLst/>
              <a:cxnLst/>
              <a:rect l="l" t="t" r="r" b="b"/>
              <a:pathLst>
                <a:path w="769424" h="336039" extrusionOk="0">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30733"/>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txBox="1"/>
            <p:nvPr/>
          </p:nvSpPr>
          <p:spPr>
            <a:xfrm>
              <a:off x="0" y="-38100"/>
              <a:ext cx="769424" cy="374139"/>
            </a:xfrm>
            <a:prstGeom prst="rect">
              <a:avLst/>
            </a:prstGeom>
            <a:noFill/>
            <a:ln>
              <a:noFill/>
            </a:ln>
          </p:spPr>
          <p:txBody>
            <a:bodyPr spcFirstLastPara="1" wrap="square" lIns="75525" tIns="75525" rIns="75525" bIns="75525" anchor="ctr" anchorCtr="0">
              <a:noAutofit/>
            </a:bodyPr>
            <a:lstStyle/>
            <a:p>
              <a:pPr marL="0" marR="0" lvl="0" indent="0" algn="ctr" rtl="0">
                <a:lnSpc>
                  <a:spcPct val="97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9" name="Google Shape;209;p6"/>
          <p:cNvGrpSpPr/>
          <p:nvPr/>
        </p:nvGrpSpPr>
        <p:grpSpPr>
          <a:xfrm>
            <a:off x="12872519" y="2456180"/>
            <a:ext cx="4748731" cy="2252616"/>
            <a:chOff x="0" y="0"/>
            <a:chExt cx="6331641" cy="3003489"/>
          </a:xfrm>
        </p:grpSpPr>
        <p:sp>
          <p:nvSpPr>
            <p:cNvPr id="210" name="Google Shape;210;p6"/>
            <p:cNvSpPr txBox="1"/>
            <p:nvPr/>
          </p:nvSpPr>
          <p:spPr>
            <a:xfrm>
              <a:off x="0" y="0"/>
              <a:ext cx="6331641" cy="6647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dirty="0">
                  <a:solidFill>
                    <a:srgbClr val="FFFFFF"/>
                  </a:solidFill>
                  <a:latin typeface="Bricolage Grotesque"/>
                  <a:sym typeface="Bricolage Grotesque"/>
                </a:rPr>
                <a:t>Out-of-Stock Situations</a:t>
              </a:r>
              <a:endParaRPr dirty="0"/>
            </a:p>
          </p:txBody>
        </p:sp>
        <p:sp>
          <p:nvSpPr>
            <p:cNvPr id="211" name="Google Shape;211;p6"/>
            <p:cNvSpPr txBox="1"/>
            <p:nvPr/>
          </p:nvSpPr>
          <p:spPr>
            <a:xfrm>
              <a:off x="0" y="790575"/>
              <a:ext cx="6331641" cy="2212914"/>
            </a:xfrm>
            <a:prstGeom prst="rect">
              <a:avLst/>
            </a:prstGeom>
            <a:noFill/>
            <a:ln>
              <a:noFill/>
            </a:ln>
          </p:spPr>
          <p:txBody>
            <a:bodyPr spcFirstLastPara="1" wrap="square" lIns="0" tIns="0" rIns="0" bIns="0" anchor="t" anchorCtr="0">
              <a:spAutoFit/>
            </a:bodyPr>
            <a:lstStyle/>
            <a:p>
              <a:pPr marL="0" marR="0" lvl="0" indent="0" algn="l" rtl="0">
                <a:lnSpc>
                  <a:spcPct val="139979"/>
                </a:lnSpc>
                <a:spcBef>
                  <a:spcPts val="0"/>
                </a:spcBef>
                <a:spcAft>
                  <a:spcPts val="0"/>
                </a:spcAft>
                <a:buNone/>
              </a:pPr>
              <a:r>
                <a:rPr lang="en-US" sz="1926" dirty="0">
                  <a:solidFill>
                    <a:srgbClr val="FFFFFF"/>
                  </a:solidFill>
                </a:rPr>
                <a:t>Continuously monitor medicine stock levels</a:t>
              </a:r>
              <a:r>
                <a:rPr lang="en-US" sz="1926" b="0" i="0" u="none" strike="noStrike" cap="none" dirty="0">
                  <a:solidFill>
                    <a:srgbClr val="FFFFFF"/>
                  </a:solidFill>
                  <a:latin typeface="Arial"/>
                  <a:ea typeface="Arial"/>
                  <a:cs typeface="Arial"/>
                  <a:sym typeface="Arial"/>
                </a:rPr>
                <a:t>. Compare available stock with minimum stock thresholds. Alert staff when medicines are low or out of stock.</a:t>
              </a:r>
              <a:endParaRPr dirty="0"/>
            </a:p>
          </p:txBody>
        </p:sp>
      </p:grpSp>
      <p:grpSp>
        <p:nvGrpSpPr>
          <p:cNvPr id="212" name="Google Shape;212;p6"/>
          <p:cNvGrpSpPr/>
          <p:nvPr/>
        </p:nvGrpSpPr>
        <p:grpSpPr>
          <a:xfrm>
            <a:off x="7858125" y="2474330"/>
            <a:ext cx="4748731" cy="2667538"/>
            <a:chOff x="0" y="0"/>
            <a:chExt cx="6331641" cy="3556715"/>
          </a:xfrm>
        </p:grpSpPr>
        <p:sp>
          <p:nvSpPr>
            <p:cNvPr id="213" name="Google Shape;213;p6"/>
            <p:cNvSpPr txBox="1"/>
            <p:nvPr/>
          </p:nvSpPr>
          <p:spPr>
            <a:xfrm>
              <a:off x="0" y="0"/>
              <a:ext cx="6331641" cy="132959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dirty="0">
                  <a:solidFill>
                    <a:srgbClr val="FFFFFF"/>
                  </a:solidFill>
                  <a:latin typeface="Bricolage Grotesque"/>
                  <a:sym typeface="Bricolage Grotesque"/>
                </a:rPr>
                <a:t>Manual Inventory Management</a:t>
              </a:r>
              <a:endParaRPr dirty="0"/>
            </a:p>
          </p:txBody>
        </p:sp>
        <p:sp>
          <p:nvSpPr>
            <p:cNvPr id="214" name="Google Shape;214;p6"/>
            <p:cNvSpPr txBox="1"/>
            <p:nvPr/>
          </p:nvSpPr>
          <p:spPr>
            <a:xfrm>
              <a:off x="0" y="790574"/>
              <a:ext cx="6331641" cy="2766141"/>
            </a:xfrm>
            <a:prstGeom prst="rect">
              <a:avLst/>
            </a:prstGeom>
            <a:noFill/>
            <a:ln>
              <a:noFill/>
            </a:ln>
          </p:spPr>
          <p:txBody>
            <a:bodyPr spcFirstLastPara="1" wrap="square" lIns="0" tIns="0" rIns="0" bIns="0" anchor="t" anchorCtr="0">
              <a:spAutoFit/>
            </a:bodyPr>
            <a:lstStyle/>
            <a:p>
              <a:pPr marL="0" marR="0" lvl="0" indent="0" algn="l" rtl="0">
                <a:lnSpc>
                  <a:spcPct val="139979"/>
                </a:lnSpc>
                <a:spcBef>
                  <a:spcPts val="0"/>
                </a:spcBef>
                <a:spcAft>
                  <a:spcPts val="0"/>
                </a:spcAft>
                <a:buNone/>
              </a:pPr>
              <a:endParaRPr lang="en-US" sz="1926" dirty="0">
                <a:solidFill>
                  <a:srgbClr val="B0AFD3"/>
                </a:solidFill>
              </a:endParaRPr>
            </a:p>
            <a:p>
              <a:pPr marL="0" marR="0" lvl="0" indent="0" algn="l" rtl="0">
                <a:lnSpc>
                  <a:spcPct val="139979"/>
                </a:lnSpc>
                <a:spcBef>
                  <a:spcPts val="0"/>
                </a:spcBef>
                <a:spcAft>
                  <a:spcPts val="0"/>
                </a:spcAft>
                <a:buNone/>
              </a:pPr>
              <a:r>
                <a:rPr lang="en-US" sz="1926" dirty="0">
                  <a:solidFill>
                    <a:srgbClr val="FFFFFF"/>
                  </a:solidFill>
                </a:rPr>
                <a:t>Automate inventory records and stock updates. Reduce manual work and data-entry errors. Maintain accurate and up-to-date stock information. </a:t>
              </a:r>
              <a:endParaRPr dirty="0"/>
            </a:p>
          </p:txBody>
        </p:sp>
      </p:grpSp>
      <p:grpSp>
        <p:nvGrpSpPr>
          <p:cNvPr id="215" name="Google Shape;215;p6"/>
          <p:cNvGrpSpPr/>
          <p:nvPr/>
        </p:nvGrpSpPr>
        <p:grpSpPr>
          <a:xfrm>
            <a:off x="7812734" y="6932930"/>
            <a:ext cx="4794123" cy="2252616"/>
            <a:chOff x="-60977" y="0"/>
            <a:chExt cx="6392162" cy="3003490"/>
          </a:xfrm>
        </p:grpSpPr>
        <p:sp>
          <p:nvSpPr>
            <p:cNvPr id="216" name="Google Shape;216;p6"/>
            <p:cNvSpPr txBox="1"/>
            <p:nvPr/>
          </p:nvSpPr>
          <p:spPr>
            <a:xfrm>
              <a:off x="-60977" y="0"/>
              <a:ext cx="6392162" cy="6647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dirty="0">
                  <a:solidFill>
                    <a:srgbClr val="FFFFFF"/>
                  </a:solidFill>
                  <a:latin typeface="Bricolage Grotesque"/>
                  <a:sym typeface="Bricolage Grotesque"/>
                </a:rPr>
                <a:t>Delayed Notifications</a:t>
              </a:r>
              <a:endParaRPr dirty="0"/>
            </a:p>
          </p:txBody>
        </p:sp>
        <p:sp>
          <p:nvSpPr>
            <p:cNvPr id="217" name="Google Shape;217;p6"/>
            <p:cNvSpPr txBox="1"/>
            <p:nvPr/>
          </p:nvSpPr>
          <p:spPr>
            <a:xfrm>
              <a:off x="-456" y="790575"/>
              <a:ext cx="6331639" cy="2212915"/>
            </a:xfrm>
            <a:prstGeom prst="rect">
              <a:avLst/>
            </a:prstGeom>
            <a:noFill/>
            <a:ln>
              <a:noFill/>
            </a:ln>
          </p:spPr>
          <p:txBody>
            <a:bodyPr spcFirstLastPara="1" wrap="square" lIns="0" tIns="0" rIns="0" bIns="0" anchor="t" anchorCtr="0">
              <a:spAutoFit/>
            </a:bodyPr>
            <a:lstStyle/>
            <a:p>
              <a:pPr marL="0" marR="0" lvl="0" indent="0" algn="l" rtl="0">
                <a:lnSpc>
                  <a:spcPct val="139979"/>
                </a:lnSpc>
                <a:spcBef>
                  <a:spcPts val="0"/>
                </a:spcBef>
                <a:spcAft>
                  <a:spcPts val="0"/>
                </a:spcAft>
                <a:buNone/>
              </a:pPr>
              <a:r>
                <a:rPr lang="en-US" sz="1926" dirty="0">
                  <a:solidFill>
                    <a:srgbClr val="FFFFFF"/>
                  </a:solidFill>
                </a:rPr>
                <a:t>Staff may not receive timely information about low-stock medicines</a:t>
              </a:r>
              <a:r>
                <a:rPr lang="en-US" sz="1926" b="0" i="0" u="none" strike="noStrike" cap="none" dirty="0">
                  <a:solidFill>
                    <a:srgbClr val="FFFFFF"/>
                  </a:solidFill>
                  <a:latin typeface="Arial"/>
                  <a:ea typeface="Arial"/>
                  <a:cs typeface="Arial"/>
                  <a:sym typeface="Arial"/>
                </a:rPr>
                <a:t>. Notify staff about near-expiry and expired medicines.</a:t>
              </a:r>
            </a:p>
            <a:p>
              <a:pPr marL="0" marR="0" lvl="0" indent="0" algn="l" rtl="0">
                <a:lnSpc>
                  <a:spcPct val="139979"/>
                </a:lnSpc>
                <a:spcBef>
                  <a:spcPts val="0"/>
                </a:spcBef>
                <a:spcAft>
                  <a:spcPts val="0"/>
                </a:spcAft>
                <a:buNone/>
              </a:pPr>
              <a:r>
                <a:rPr lang="en-US" sz="1926" dirty="0">
                  <a:solidFill>
                    <a:srgbClr val="FFFFFF"/>
                  </a:solidFill>
                </a:rPr>
                <a:t>Enable timely action and restocking.</a:t>
              </a:r>
              <a:endParaRPr dirty="0"/>
            </a:p>
          </p:txBody>
        </p:sp>
      </p:grpSp>
      <p:grpSp>
        <p:nvGrpSpPr>
          <p:cNvPr id="218" name="Google Shape;218;p6"/>
          <p:cNvGrpSpPr/>
          <p:nvPr/>
        </p:nvGrpSpPr>
        <p:grpSpPr>
          <a:xfrm>
            <a:off x="12872519" y="6932930"/>
            <a:ext cx="4748731" cy="2252616"/>
            <a:chOff x="0" y="0"/>
            <a:chExt cx="6331641" cy="3003489"/>
          </a:xfrm>
        </p:grpSpPr>
        <p:sp>
          <p:nvSpPr>
            <p:cNvPr id="219" name="Google Shape;219;p6"/>
            <p:cNvSpPr txBox="1"/>
            <p:nvPr/>
          </p:nvSpPr>
          <p:spPr>
            <a:xfrm>
              <a:off x="0" y="0"/>
              <a:ext cx="6331641" cy="6647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250" b="1" dirty="0">
                  <a:solidFill>
                    <a:srgbClr val="FFFFFF"/>
                  </a:solidFill>
                  <a:latin typeface="Bricolage Grotesque"/>
                  <a:sym typeface="Bricolage Grotesque"/>
                </a:rPr>
                <a:t>Difficult Decision Making</a:t>
              </a:r>
              <a:endParaRPr dirty="0"/>
            </a:p>
          </p:txBody>
        </p:sp>
        <p:sp>
          <p:nvSpPr>
            <p:cNvPr id="220" name="Google Shape;220;p6"/>
            <p:cNvSpPr txBox="1"/>
            <p:nvPr/>
          </p:nvSpPr>
          <p:spPr>
            <a:xfrm>
              <a:off x="0" y="790575"/>
              <a:ext cx="6331641" cy="2212914"/>
            </a:xfrm>
            <a:prstGeom prst="rect">
              <a:avLst/>
            </a:prstGeom>
            <a:noFill/>
            <a:ln>
              <a:noFill/>
            </a:ln>
          </p:spPr>
          <p:txBody>
            <a:bodyPr spcFirstLastPara="1" wrap="square" lIns="0" tIns="0" rIns="0" bIns="0" anchor="t" anchorCtr="0">
              <a:spAutoFit/>
            </a:bodyPr>
            <a:lstStyle/>
            <a:p>
              <a:pPr marL="0" marR="0" lvl="0" indent="0" algn="l" rtl="0">
                <a:lnSpc>
                  <a:spcPct val="139979"/>
                </a:lnSpc>
                <a:spcBef>
                  <a:spcPts val="0"/>
                </a:spcBef>
                <a:spcAft>
                  <a:spcPts val="0"/>
                </a:spcAft>
                <a:buNone/>
              </a:pPr>
              <a:r>
                <a:rPr lang="en-US" sz="1926" dirty="0">
                  <a:solidFill>
                    <a:srgbClr val="FFFFFF"/>
                  </a:solidFill>
                </a:rPr>
                <a:t>Provide real-time inventory information in one place. Display stock, expiry, and inventory trends clearly. Support faster and data-driven decisions.</a:t>
              </a:r>
              <a:endParaRPr dirty="0"/>
            </a:p>
          </p:txBody>
        </p:sp>
      </p:grpSp>
      <p:grpSp>
        <p:nvGrpSpPr>
          <p:cNvPr id="221" name="Google Shape;221;p6"/>
          <p:cNvGrpSpPr/>
          <p:nvPr/>
        </p:nvGrpSpPr>
        <p:grpSpPr>
          <a:xfrm rot="10800000">
            <a:off x="-1034932" y="6996006"/>
            <a:ext cx="3454198" cy="4601348"/>
            <a:chOff x="-67779" y="-102347"/>
            <a:chExt cx="4605597" cy="6135131"/>
          </a:xfrm>
        </p:grpSpPr>
        <p:grpSp>
          <p:nvGrpSpPr>
            <p:cNvPr id="222" name="Google Shape;222;p6"/>
            <p:cNvGrpSpPr/>
            <p:nvPr/>
          </p:nvGrpSpPr>
          <p:grpSpPr>
            <a:xfrm rot="-2700000">
              <a:off x="-86577" y="2937338"/>
              <a:ext cx="4441804" cy="1786685"/>
              <a:chOff x="0" y="-19050"/>
              <a:chExt cx="882773" cy="355089"/>
            </a:xfrm>
          </p:grpSpPr>
          <p:sp>
            <p:nvSpPr>
              <p:cNvPr id="223" name="Google Shape;223;p6"/>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6"/>
              <p:cNvSpPr txBox="1"/>
              <p:nvPr/>
            </p:nvSpPr>
            <p:spPr>
              <a:xfrm>
                <a:off x="0" y="-19050"/>
                <a:ext cx="882773" cy="355089"/>
              </a:xfrm>
              <a:prstGeom prst="rect">
                <a:avLst/>
              </a:prstGeom>
              <a:noFill/>
              <a:ln>
                <a:noFill/>
              </a:ln>
            </p:spPr>
            <p:txBody>
              <a:bodyPr spcFirstLastPara="1" wrap="square" lIns="152525" tIns="152525" rIns="152525" bIns="152525" anchor="ctr" anchorCtr="0">
                <a:noAutofit/>
              </a:bodyPr>
              <a:lstStyle/>
              <a:p>
                <a:pPr marL="0" marR="0" lvl="0" indent="0" algn="ctr" rtl="0">
                  <a:lnSpc>
                    <a:spcPct val="104999"/>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6"/>
            <p:cNvGrpSpPr/>
            <p:nvPr/>
          </p:nvGrpSpPr>
          <p:grpSpPr>
            <a:xfrm rot="-2700000">
              <a:off x="68205" y="1208093"/>
              <a:ext cx="4471480" cy="1846868"/>
              <a:chOff x="0" y="-28575"/>
              <a:chExt cx="882773" cy="364614"/>
            </a:xfrm>
          </p:grpSpPr>
          <p:sp>
            <p:nvSpPr>
              <p:cNvPr id="226" name="Google Shape;226;p6"/>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B0AF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6"/>
              <p:cNvSpPr txBox="1"/>
              <p:nvPr/>
            </p:nvSpPr>
            <p:spPr>
              <a:xfrm>
                <a:off x="0" y="-28575"/>
                <a:ext cx="882773" cy="364614"/>
              </a:xfrm>
              <a:prstGeom prst="rect">
                <a:avLst/>
              </a:prstGeom>
              <a:noFill/>
              <a:ln>
                <a:noFill/>
              </a:ln>
            </p:spPr>
            <p:txBody>
              <a:bodyPr spcFirstLastPara="1" wrap="square" lIns="55700" tIns="55700" rIns="55700" bIns="55700" anchor="ctr" anchorCtr="0">
                <a:noAutofit/>
              </a:bodyPr>
              <a:lstStyle/>
              <a:p>
                <a:pPr marL="0" marR="0" lvl="0" indent="0" algn="ctr" rtl="0">
                  <a:lnSpc>
                    <a:spcPct val="93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228" name="Google Shape;228;p6"/>
          <p:cNvSpPr txBox="1"/>
          <p:nvPr/>
        </p:nvSpPr>
        <p:spPr>
          <a:xfrm>
            <a:off x="13193389" y="6038850"/>
            <a:ext cx="213023" cy="40957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700" b="1" i="0" u="none" strike="noStrike" cap="none">
                <a:solidFill>
                  <a:srgbClr val="FFFFFF"/>
                </a:solidFill>
                <a:latin typeface="Bricolage Grotesque"/>
                <a:ea typeface="Bricolage Grotesque"/>
                <a:cs typeface="Bricolage Grotesque"/>
                <a:sym typeface="Bricolage Grotesque"/>
              </a:rPr>
              <a:t>4</a:t>
            </a:r>
            <a:endParaRPr/>
          </a:p>
        </p:txBody>
      </p:sp>
      <p:sp>
        <p:nvSpPr>
          <p:cNvPr id="229" name="Google Shape;229;p6"/>
          <p:cNvSpPr txBox="1"/>
          <p:nvPr/>
        </p:nvSpPr>
        <p:spPr>
          <a:xfrm>
            <a:off x="8227209" y="1562100"/>
            <a:ext cx="117277" cy="40957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700" b="1" i="0" u="none" strike="noStrike" cap="none">
                <a:solidFill>
                  <a:srgbClr val="FFFFFF"/>
                </a:solidFill>
                <a:latin typeface="Bricolage Grotesque"/>
                <a:ea typeface="Bricolage Grotesque"/>
                <a:cs typeface="Bricolage Grotesque"/>
                <a:sym typeface="Bricolage Grotesque"/>
              </a:rPr>
              <a:t>1</a:t>
            </a:r>
            <a:endParaRPr/>
          </a:p>
        </p:txBody>
      </p:sp>
      <p:sp>
        <p:nvSpPr>
          <p:cNvPr id="230" name="Google Shape;230;p6"/>
          <p:cNvSpPr txBox="1"/>
          <p:nvPr/>
        </p:nvSpPr>
        <p:spPr>
          <a:xfrm>
            <a:off x="13197159" y="1562100"/>
            <a:ext cx="205482" cy="40957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700" b="1" i="0" u="none" strike="noStrike" cap="none">
                <a:solidFill>
                  <a:srgbClr val="FFFFFF"/>
                </a:solidFill>
                <a:latin typeface="Bricolage Grotesque"/>
                <a:ea typeface="Bricolage Grotesque"/>
                <a:cs typeface="Bricolage Grotesque"/>
                <a:sym typeface="Bricolage Grotesque"/>
              </a:rPr>
              <a:t>2</a:t>
            </a:r>
            <a:endParaRPr/>
          </a:p>
        </p:txBody>
      </p:sp>
      <p:sp>
        <p:nvSpPr>
          <p:cNvPr id="231" name="Google Shape;231;p6"/>
          <p:cNvSpPr txBox="1"/>
          <p:nvPr/>
        </p:nvSpPr>
        <p:spPr>
          <a:xfrm>
            <a:off x="8182611" y="6038850"/>
            <a:ext cx="206474" cy="40957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700" b="1" i="0" u="none" strike="noStrike" cap="none">
                <a:solidFill>
                  <a:srgbClr val="FFFFFF"/>
                </a:solidFill>
                <a:latin typeface="Bricolage Grotesque"/>
                <a:ea typeface="Bricolage Grotesque"/>
                <a:cs typeface="Bricolage Grotesque"/>
                <a:sym typeface="Bricolage Grotesque"/>
              </a:rPr>
              <a:t>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F4A"/>
        </a:solidFill>
        <a:effectLst/>
      </p:bgPr>
    </p:bg>
    <p:spTree>
      <p:nvGrpSpPr>
        <p:cNvPr id="1" name="Shape 235"/>
        <p:cNvGrpSpPr/>
        <p:nvPr/>
      </p:nvGrpSpPr>
      <p:grpSpPr>
        <a:xfrm>
          <a:off x="0" y="0"/>
          <a:ext cx="0" cy="0"/>
          <a:chOff x="0" y="0"/>
          <a:chExt cx="0" cy="0"/>
        </a:xfrm>
      </p:grpSpPr>
      <p:grpSp>
        <p:nvGrpSpPr>
          <p:cNvPr id="236" name="Google Shape;236;p7"/>
          <p:cNvGrpSpPr/>
          <p:nvPr/>
        </p:nvGrpSpPr>
        <p:grpSpPr>
          <a:xfrm>
            <a:off x="12651130" y="7095280"/>
            <a:ext cx="5451676" cy="3234710"/>
            <a:chOff x="-321278" y="-361747"/>
            <a:chExt cx="7268902" cy="4312943"/>
          </a:xfrm>
        </p:grpSpPr>
        <p:sp>
          <p:nvSpPr>
            <p:cNvPr id="237" name="Google Shape;237;p7"/>
            <p:cNvSpPr txBox="1"/>
            <p:nvPr/>
          </p:nvSpPr>
          <p:spPr>
            <a:xfrm>
              <a:off x="-321278" y="-361747"/>
              <a:ext cx="7268902" cy="590930"/>
            </a:xfrm>
            <a:prstGeom prst="rect">
              <a:avLst/>
            </a:prstGeom>
            <a:noFill/>
            <a:ln>
              <a:noFill/>
            </a:ln>
          </p:spPr>
          <p:txBody>
            <a:bodyPr spcFirstLastPara="1" wrap="square" lIns="0" tIns="0" rIns="0" bIns="0" anchor="t" anchorCtr="0">
              <a:spAutoFit/>
            </a:bodyPr>
            <a:lstStyle/>
            <a:p>
              <a:pPr lvl="0" algn="ctr">
                <a:lnSpc>
                  <a:spcPct val="120037"/>
                </a:lnSpc>
              </a:pPr>
              <a:r>
                <a:rPr lang="en-US" sz="2400" dirty="0">
                  <a:solidFill>
                    <a:srgbClr val="FFFFFF"/>
                  </a:solidFill>
                </a:rPr>
                <a:t>Efficient Stock Monitoring and Control</a:t>
              </a:r>
              <a:endParaRPr dirty="0">
                <a:solidFill>
                  <a:schemeClr val="bg1"/>
                </a:solidFill>
              </a:endParaRPr>
            </a:p>
          </p:txBody>
        </p:sp>
        <p:sp>
          <p:nvSpPr>
            <p:cNvPr id="238" name="Google Shape;238;p7"/>
            <p:cNvSpPr txBox="1"/>
            <p:nvPr/>
          </p:nvSpPr>
          <p:spPr>
            <a:xfrm>
              <a:off x="-58918" y="405612"/>
              <a:ext cx="5405619" cy="3545584"/>
            </a:xfrm>
            <a:prstGeom prst="rect">
              <a:avLst/>
            </a:prstGeom>
            <a:noFill/>
            <a:ln>
              <a:noFill/>
            </a:ln>
          </p:spPr>
          <p:txBody>
            <a:bodyPr spcFirstLastPara="1" wrap="square" lIns="0" tIns="0" rIns="0" bIns="0" anchor="t" anchorCtr="0">
              <a:spAutoFit/>
            </a:bodyPr>
            <a:lstStyle/>
            <a:p>
              <a:pPr lvl="0" algn="ctr">
                <a:lnSpc>
                  <a:spcPct val="119990"/>
                </a:lnSpc>
              </a:pPr>
              <a:r>
                <a:rPr lang="en-US" sz="2400" dirty="0">
                  <a:solidFill>
                    <a:srgbClr val="FFFFFF"/>
                  </a:solidFill>
                </a:rPr>
                <a:t>Real-time inventory monitoring provides clear visibility of stock levels. Instant alerts support better inventory management and decision-making.</a:t>
              </a:r>
              <a:endParaRPr dirty="0">
                <a:solidFill>
                  <a:schemeClr val="bg1"/>
                </a:solidFill>
              </a:endParaRPr>
            </a:p>
          </p:txBody>
        </p:sp>
      </p:grpSp>
      <p:grpSp>
        <p:nvGrpSpPr>
          <p:cNvPr id="239" name="Google Shape;239;p7"/>
          <p:cNvGrpSpPr/>
          <p:nvPr/>
        </p:nvGrpSpPr>
        <p:grpSpPr>
          <a:xfrm>
            <a:off x="7110774" y="7046930"/>
            <a:ext cx="4950045" cy="3035704"/>
            <a:chOff x="-35970" y="-426201"/>
            <a:chExt cx="6600059" cy="4047611"/>
          </a:xfrm>
        </p:grpSpPr>
        <p:sp>
          <p:nvSpPr>
            <p:cNvPr id="240" name="Google Shape;240;p7"/>
            <p:cNvSpPr txBox="1"/>
            <p:nvPr/>
          </p:nvSpPr>
          <p:spPr>
            <a:xfrm>
              <a:off x="-35970" y="-426201"/>
              <a:ext cx="6600059" cy="590931"/>
            </a:xfrm>
            <a:prstGeom prst="rect">
              <a:avLst/>
            </a:prstGeom>
            <a:noFill/>
            <a:ln>
              <a:noFill/>
            </a:ln>
          </p:spPr>
          <p:txBody>
            <a:bodyPr spcFirstLastPara="1" wrap="square" lIns="0" tIns="0" rIns="0" bIns="0" anchor="t" anchorCtr="0">
              <a:spAutoFit/>
            </a:bodyPr>
            <a:lstStyle/>
            <a:p>
              <a:pPr lvl="0" algn="ctr">
                <a:lnSpc>
                  <a:spcPct val="120037"/>
                </a:lnSpc>
              </a:pPr>
              <a:r>
                <a:rPr lang="en-US" sz="2400" dirty="0">
                  <a:solidFill>
                    <a:srgbClr val="FFFFFF"/>
                  </a:solidFill>
                </a:rPr>
                <a:t>Minimized Medicine Expiry Losses</a:t>
              </a:r>
              <a:endParaRPr dirty="0">
                <a:solidFill>
                  <a:schemeClr val="bg1"/>
                </a:solidFill>
              </a:endParaRPr>
            </a:p>
          </p:txBody>
        </p:sp>
        <p:sp>
          <p:nvSpPr>
            <p:cNvPr id="241" name="Google Shape;241;p7"/>
            <p:cNvSpPr txBox="1"/>
            <p:nvPr/>
          </p:nvSpPr>
          <p:spPr>
            <a:xfrm>
              <a:off x="0" y="666751"/>
              <a:ext cx="5346699" cy="2954659"/>
            </a:xfrm>
            <a:prstGeom prst="rect">
              <a:avLst/>
            </a:prstGeom>
            <a:noFill/>
            <a:ln>
              <a:noFill/>
            </a:ln>
          </p:spPr>
          <p:txBody>
            <a:bodyPr spcFirstLastPara="1" wrap="square" lIns="0" tIns="0" rIns="0" bIns="0" anchor="t" anchorCtr="0">
              <a:spAutoFit/>
            </a:bodyPr>
            <a:lstStyle/>
            <a:p>
              <a:pPr lvl="0" algn="ctr">
                <a:lnSpc>
                  <a:spcPct val="119990"/>
                </a:lnSpc>
              </a:pPr>
              <a:r>
                <a:rPr lang="en-US" sz="2400" dirty="0">
                  <a:solidFill>
                    <a:srgbClr val="FFFFFF"/>
                  </a:solidFill>
                </a:rPr>
                <a:t>The system tracks expiry dates and sends timely alerts. This helps staff take preventive action and reduce medicine wastage.</a:t>
              </a:r>
              <a:endParaRPr dirty="0">
                <a:solidFill>
                  <a:schemeClr val="bg1"/>
                </a:solidFill>
              </a:endParaRPr>
            </a:p>
          </p:txBody>
        </p:sp>
      </p:grpSp>
      <p:grpSp>
        <p:nvGrpSpPr>
          <p:cNvPr id="242" name="Google Shape;242;p7"/>
          <p:cNvGrpSpPr/>
          <p:nvPr/>
        </p:nvGrpSpPr>
        <p:grpSpPr>
          <a:xfrm>
            <a:off x="856527" y="7095280"/>
            <a:ext cx="5114654" cy="2982007"/>
            <a:chOff x="-909015" y="-359086"/>
            <a:chExt cx="6819540" cy="3945965"/>
          </a:xfrm>
        </p:grpSpPr>
        <p:sp>
          <p:nvSpPr>
            <p:cNvPr id="243" name="Google Shape;243;p7"/>
            <p:cNvSpPr txBox="1"/>
            <p:nvPr/>
          </p:nvSpPr>
          <p:spPr>
            <a:xfrm>
              <a:off x="-245400" y="-359086"/>
              <a:ext cx="5592100" cy="586465"/>
            </a:xfrm>
            <a:prstGeom prst="rect">
              <a:avLst/>
            </a:prstGeom>
            <a:noFill/>
            <a:ln>
              <a:noFill/>
            </a:ln>
          </p:spPr>
          <p:txBody>
            <a:bodyPr spcFirstLastPara="1" wrap="square" lIns="0" tIns="0" rIns="0" bIns="0" anchor="t" anchorCtr="0">
              <a:spAutoFit/>
            </a:bodyPr>
            <a:lstStyle/>
            <a:p>
              <a:pPr lvl="0" algn="ctr">
                <a:lnSpc>
                  <a:spcPct val="120037"/>
                </a:lnSpc>
              </a:pPr>
              <a:r>
                <a:rPr lang="en-US" sz="2400" dirty="0" smtClean="0">
                  <a:solidFill>
                    <a:srgbClr val="FFFFFF"/>
                  </a:solidFill>
                </a:rPr>
                <a:t>Real-Time Stock Accuracy</a:t>
              </a:r>
              <a:endParaRPr dirty="0">
                <a:solidFill>
                  <a:schemeClr val="bg1"/>
                </a:solidFill>
              </a:endParaRPr>
            </a:p>
          </p:txBody>
        </p:sp>
        <p:sp>
          <p:nvSpPr>
            <p:cNvPr id="244" name="Google Shape;244;p7"/>
            <p:cNvSpPr txBox="1"/>
            <p:nvPr/>
          </p:nvSpPr>
          <p:spPr>
            <a:xfrm>
              <a:off x="-909015" y="654551"/>
              <a:ext cx="6819540" cy="2932328"/>
            </a:xfrm>
            <a:prstGeom prst="rect">
              <a:avLst/>
            </a:prstGeom>
            <a:noFill/>
            <a:ln>
              <a:noFill/>
            </a:ln>
          </p:spPr>
          <p:txBody>
            <a:bodyPr spcFirstLastPara="1" wrap="square" lIns="0" tIns="0" rIns="0" bIns="0" anchor="t" anchorCtr="0">
              <a:spAutoFit/>
            </a:bodyPr>
            <a:lstStyle/>
            <a:p>
              <a:pPr lvl="0" algn="ctr">
                <a:lnSpc>
                  <a:spcPct val="119990"/>
                </a:lnSpc>
              </a:pPr>
              <a:r>
                <a:rPr lang="en-US" sz="2400" dirty="0">
                  <a:solidFill>
                    <a:srgbClr val="FFFFFF"/>
                  </a:solidFill>
                </a:rPr>
                <a:t>Automated inventory tracking keeps medicine records up to date and reliable. It minimizes human mistakes and helps maintain accurate stock information across the system.</a:t>
              </a:r>
              <a:endParaRPr dirty="0">
                <a:solidFill>
                  <a:schemeClr val="bg1"/>
                </a:solidFill>
              </a:endParaRPr>
            </a:p>
          </p:txBody>
        </p:sp>
      </p:grpSp>
      <p:sp>
        <p:nvSpPr>
          <p:cNvPr id="245" name="Google Shape;245;p7"/>
          <p:cNvSpPr txBox="1"/>
          <p:nvPr/>
        </p:nvSpPr>
        <p:spPr>
          <a:xfrm>
            <a:off x="666750" y="800100"/>
            <a:ext cx="16954500" cy="1816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999" b="1" i="0" u="none" strike="noStrike" cap="none">
                <a:solidFill>
                  <a:srgbClr val="FFFFFF"/>
                </a:solidFill>
                <a:latin typeface="Bricolage Grotesque SemiBold"/>
                <a:ea typeface="Bricolage Grotesque SemiBold"/>
                <a:cs typeface="Bricolage Grotesque SemiBold"/>
                <a:sym typeface="Bricolage Grotesque SemiBold"/>
              </a:rPr>
              <a:t>Measurable Outcomes and Positive Impact</a:t>
            </a:r>
            <a:endParaRPr/>
          </a:p>
        </p:txBody>
      </p:sp>
      <p:sp>
        <p:nvSpPr>
          <p:cNvPr id="248" name="Google Shape;248;p7"/>
          <p:cNvSpPr/>
          <p:nvPr/>
        </p:nvSpPr>
        <p:spPr>
          <a:xfrm>
            <a:off x="12172950" y="3352800"/>
            <a:ext cx="5448300" cy="3581400"/>
          </a:xfrm>
          <a:custGeom>
            <a:avLst/>
            <a:gdLst/>
            <a:ahLst/>
            <a:cxnLst/>
            <a:rect l="l" t="t" r="r" b="b"/>
            <a:pathLst>
              <a:path w="1631088" h="1072184" extrusionOk="0">
                <a:moveTo>
                  <a:pt x="28420" y="0"/>
                </a:moveTo>
                <a:lnTo>
                  <a:pt x="1602669" y="0"/>
                </a:lnTo>
                <a:cubicBezTo>
                  <a:pt x="1618365" y="0"/>
                  <a:pt x="1631088" y="12724"/>
                  <a:pt x="1631088" y="28420"/>
                </a:cubicBezTo>
                <a:lnTo>
                  <a:pt x="1631088" y="1043764"/>
                </a:lnTo>
                <a:cubicBezTo>
                  <a:pt x="1631088" y="1059460"/>
                  <a:pt x="1618365" y="1072184"/>
                  <a:pt x="1602669" y="1072184"/>
                </a:cubicBezTo>
                <a:lnTo>
                  <a:pt x="28420" y="1072184"/>
                </a:lnTo>
                <a:cubicBezTo>
                  <a:pt x="12724" y="1072184"/>
                  <a:pt x="0" y="1059460"/>
                  <a:pt x="0" y="1043764"/>
                </a:cubicBezTo>
                <a:lnTo>
                  <a:pt x="0" y="28420"/>
                </a:lnTo>
                <a:cubicBezTo>
                  <a:pt x="0" y="12724"/>
                  <a:pt x="12724" y="0"/>
                  <a:pt x="28420" y="0"/>
                </a:cubicBezTo>
                <a:close/>
              </a:path>
            </a:pathLst>
          </a:custGeom>
          <a:blipFill rotWithShape="1">
            <a:blip r:embed="rId3">
              <a:alphaModFix/>
            </a:blip>
            <a:stretch>
              <a:fillRect l="-81" r="-82"/>
            </a:stretch>
          </a:blip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Picture 6">
            <a:extLst>
              <a:ext uri="{FF2B5EF4-FFF2-40B4-BE49-F238E27FC236}">
                <a16:creationId xmlns="" xmlns:a16="http://schemas.microsoft.com/office/drawing/2014/main" id="{BA58FD1B-4A74-8CEF-0293-C0E8CEBE8999}"/>
              </a:ext>
            </a:extLst>
          </p:cNvPr>
          <p:cNvPicPr>
            <a:picLocks noChangeAspect="1"/>
          </p:cNvPicPr>
          <p:nvPr/>
        </p:nvPicPr>
        <p:blipFill>
          <a:blip r:embed="rId4"/>
          <a:stretch>
            <a:fillRect/>
          </a:stretch>
        </p:blipFill>
        <p:spPr>
          <a:xfrm>
            <a:off x="666750" y="3352801"/>
            <a:ext cx="5304431" cy="3581400"/>
          </a:xfrm>
          <a:prstGeom prst="rect">
            <a:avLst/>
          </a:prstGeom>
        </p:spPr>
      </p:pic>
      <p:pic>
        <p:nvPicPr>
          <p:cNvPr id="9" name="Picture 8">
            <a:extLst>
              <a:ext uri="{FF2B5EF4-FFF2-40B4-BE49-F238E27FC236}">
                <a16:creationId xmlns="" xmlns:a16="http://schemas.microsoft.com/office/drawing/2014/main" id="{2A968017-9305-2D4E-0CA4-58CBAA3BAFCA}"/>
              </a:ext>
            </a:extLst>
          </p:cNvPr>
          <p:cNvPicPr>
            <a:picLocks noChangeAspect="1"/>
          </p:cNvPicPr>
          <p:nvPr/>
        </p:nvPicPr>
        <p:blipFill>
          <a:blip r:embed="rId5"/>
          <a:stretch>
            <a:fillRect/>
          </a:stretch>
        </p:blipFill>
        <p:spPr>
          <a:xfrm>
            <a:off x="6861300" y="3352800"/>
            <a:ext cx="4587750" cy="3581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F4A"/>
        </a:solidFill>
        <a:effectLst/>
      </p:bgPr>
    </p:bg>
    <p:spTree>
      <p:nvGrpSpPr>
        <p:cNvPr id="1" name="Shape 252">
          <a:extLst>
            <a:ext uri="{FF2B5EF4-FFF2-40B4-BE49-F238E27FC236}">
              <a16:creationId xmlns="" xmlns:a16="http://schemas.microsoft.com/office/drawing/2014/main" id="{8A2D393B-5552-BF52-D07F-8BBC21F9239A}"/>
            </a:ext>
          </a:extLst>
        </p:cNvPr>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51398" y="1290878"/>
            <a:ext cx="6476262" cy="3891324"/>
          </a:xfrm>
          <a:prstGeom prst="rect">
            <a:avLst/>
          </a:prstGeom>
        </p:spPr>
      </p:pic>
      <p:pic>
        <p:nvPicPr>
          <p:cNvPr id="4" name="Picture 3"/>
          <p:cNvPicPr>
            <a:picLocks noChangeAspect="1"/>
          </p:cNvPicPr>
          <p:nvPr/>
        </p:nvPicPr>
        <p:blipFill>
          <a:blip r:embed="rId4"/>
          <a:stretch>
            <a:fillRect/>
          </a:stretch>
        </p:blipFill>
        <p:spPr>
          <a:xfrm>
            <a:off x="4089529" y="6156744"/>
            <a:ext cx="9468092" cy="3344132"/>
          </a:xfrm>
          <a:prstGeom prst="rect">
            <a:avLst/>
          </a:prstGeom>
        </p:spPr>
      </p:pic>
      <p:pic>
        <p:nvPicPr>
          <p:cNvPr id="7" name="Picture 6"/>
          <p:cNvPicPr>
            <a:picLocks noChangeAspect="1"/>
          </p:cNvPicPr>
          <p:nvPr/>
        </p:nvPicPr>
        <p:blipFill>
          <a:blip r:embed="rId5"/>
          <a:stretch>
            <a:fillRect/>
          </a:stretch>
        </p:blipFill>
        <p:spPr>
          <a:xfrm>
            <a:off x="9656742" y="1370570"/>
            <a:ext cx="7419991" cy="3926373"/>
          </a:xfrm>
          <a:prstGeom prst="rect">
            <a:avLst/>
          </a:prstGeom>
        </p:spPr>
      </p:pic>
      <p:sp>
        <p:nvSpPr>
          <p:cNvPr id="9" name="Rectangle 8"/>
          <p:cNvSpPr/>
          <p:nvPr/>
        </p:nvSpPr>
        <p:spPr>
          <a:xfrm>
            <a:off x="4412736" y="8682450"/>
            <a:ext cx="9144000" cy="588944"/>
          </a:xfrm>
          <a:prstGeom prst="rect">
            <a:avLst/>
          </a:prstGeom>
        </p:spPr>
        <p:txBody>
          <a:bodyPr>
            <a:spAutoFit/>
          </a:bodyPr>
          <a:lstStyle/>
          <a:p>
            <a:pPr lvl="0">
              <a:lnSpc>
                <a:spcPct val="153999"/>
              </a:lnSpc>
            </a:pPr>
            <a:endParaRPr lang="en-US" sz="2400" dirty="0">
              <a:solidFill>
                <a:schemeClr val="bg1"/>
              </a:solidFill>
            </a:endParaRPr>
          </a:p>
        </p:txBody>
      </p:sp>
      <p:sp>
        <p:nvSpPr>
          <p:cNvPr id="11" name="Rectangle 10"/>
          <p:cNvSpPr/>
          <p:nvPr/>
        </p:nvSpPr>
        <p:spPr>
          <a:xfrm>
            <a:off x="1423617" y="5296943"/>
            <a:ext cx="6169306" cy="461665"/>
          </a:xfrm>
          <a:prstGeom prst="rect">
            <a:avLst/>
          </a:prstGeom>
        </p:spPr>
        <p:txBody>
          <a:bodyPr wrap="square">
            <a:spAutoFit/>
          </a:bodyPr>
          <a:lstStyle/>
          <a:p>
            <a:r>
              <a:rPr lang="en-US" sz="2400" dirty="0" smtClean="0">
                <a:solidFill>
                  <a:srgbClr val="FFFFFF"/>
                </a:solidFill>
              </a:rPr>
              <a:t>               Login Page</a:t>
            </a:r>
            <a:endParaRPr lang="en-US" sz="2400" dirty="0">
              <a:solidFill>
                <a:schemeClr val="bg1"/>
              </a:solidFill>
            </a:endParaRPr>
          </a:p>
        </p:txBody>
      </p:sp>
      <p:sp>
        <p:nvSpPr>
          <p:cNvPr id="14" name="Rectangle 13"/>
          <p:cNvSpPr/>
          <p:nvPr/>
        </p:nvSpPr>
        <p:spPr>
          <a:xfrm>
            <a:off x="11666635" y="5376143"/>
            <a:ext cx="3780202" cy="461665"/>
          </a:xfrm>
          <a:prstGeom prst="rect">
            <a:avLst/>
          </a:prstGeom>
        </p:spPr>
        <p:txBody>
          <a:bodyPr wrap="none">
            <a:spAutoFit/>
          </a:bodyPr>
          <a:lstStyle/>
          <a:p>
            <a:r>
              <a:rPr lang="en-US" sz="2400" dirty="0">
                <a:solidFill>
                  <a:srgbClr val="FFFFFF"/>
                </a:solidFill>
              </a:rPr>
              <a:t>Supplier &amp; Sales Analytics</a:t>
            </a:r>
          </a:p>
        </p:txBody>
      </p:sp>
      <p:sp>
        <p:nvSpPr>
          <p:cNvPr id="15" name="Rectangle 14"/>
          <p:cNvSpPr/>
          <p:nvPr/>
        </p:nvSpPr>
        <p:spPr>
          <a:xfrm>
            <a:off x="6891428" y="9500876"/>
            <a:ext cx="3103102" cy="461665"/>
          </a:xfrm>
          <a:prstGeom prst="rect">
            <a:avLst/>
          </a:prstGeom>
        </p:spPr>
        <p:txBody>
          <a:bodyPr wrap="square">
            <a:spAutoFit/>
          </a:bodyPr>
          <a:lstStyle/>
          <a:p>
            <a:r>
              <a:rPr lang="en-US" sz="2400" dirty="0" smtClean="0">
                <a:solidFill>
                  <a:srgbClr val="FFFFFF"/>
                </a:solidFill>
              </a:rPr>
              <a:t>     Admin </a:t>
            </a:r>
            <a:r>
              <a:rPr lang="en-US" sz="2400" dirty="0">
                <a:solidFill>
                  <a:srgbClr val="FFFFFF"/>
                </a:solidFill>
              </a:rPr>
              <a:t>Dashboard</a:t>
            </a:r>
          </a:p>
        </p:txBody>
      </p:sp>
      <p:sp>
        <p:nvSpPr>
          <p:cNvPr id="5" name="Rectangle 4"/>
          <p:cNvSpPr/>
          <p:nvPr/>
        </p:nvSpPr>
        <p:spPr>
          <a:xfrm>
            <a:off x="668740" y="198504"/>
            <a:ext cx="2248281" cy="707886"/>
          </a:xfrm>
          <a:prstGeom prst="rect">
            <a:avLst/>
          </a:prstGeom>
        </p:spPr>
        <p:txBody>
          <a:bodyPr wrap="square">
            <a:spAutoFit/>
          </a:bodyPr>
          <a:lstStyle/>
          <a:p>
            <a:r>
              <a:rPr lang="en-US" sz="4000" dirty="0">
                <a:solidFill>
                  <a:srgbClr val="FFFFFF"/>
                </a:solidFill>
              </a:rPr>
              <a:t>Outcome</a:t>
            </a:r>
          </a:p>
        </p:txBody>
      </p:sp>
    </p:spTree>
    <p:extLst>
      <p:ext uri="{BB962C8B-B14F-4D97-AF65-F5344CB8AC3E}">
        <p14:creationId xmlns:p14="http://schemas.microsoft.com/office/powerpoint/2010/main" val="1016809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F4A"/>
        </a:solidFill>
        <a:effectLst/>
      </p:bgPr>
    </p:bg>
    <p:spTree>
      <p:nvGrpSpPr>
        <p:cNvPr id="1" name="Shape 252"/>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24766" y="202017"/>
            <a:ext cx="8706718" cy="4369983"/>
          </a:xfrm>
          <a:prstGeom prst="rect">
            <a:avLst/>
          </a:prstGeom>
        </p:spPr>
      </p:pic>
      <p:pic>
        <p:nvPicPr>
          <p:cNvPr id="4" name="Picture 3"/>
          <p:cNvPicPr>
            <a:picLocks noChangeAspect="1"/>
          </p:cNvPicPr>
          <p:nvPr/>
        </p:nvPicPr>
        <p:blipFill>
          <a:blip r:embed="rId4"/>
          <a:stretch>
            <a:fillRect/>
          </a:stretch>
        </p:blipFill>
        <p:spPr>
          <a:xfrm>
            <a:off x="4533140" y="5648445"/>
            <a:ext cx="9015241" cy="3727049"/>
          </a:xfrm>
          <a:prstGeom prst="rect">
            <a:avLst/>
          </a:prstGeom>
        </p:spPr>
      </p:pic>
      <p:pic>
        <p:nvPicPr>
          <p:cNvPr id="6" name="Picture 5"/>
          <p:cNvPicPr>
            <a:picLocks noChangeAspect="1"/>
          </p:cNvPicPr>
          <p:nvPr/>
        </p:nvPicPr>
        <p:blipFill>
          <a:blip r:embed="rId5"/>
          <a:stretch>
            <a:fillRect/>
          </a:stretch>
        </p:blipFill>
        <p:spPr>
          <a:xfrm>
            <a:off x="9757459" y="190120"/>
            <a:ext cx="7890672" cy="4381880"/>
          </a:xfrm>
          <a:prstGeom prst="rect">
            <a:avLst/>
          </a:prstGeom>
        </p:spPr>
      </p:pic>
      <p:sp>
        <p:nvSpPr>
          <p:cNvPr id="8" name="Rectangle 7"/>
          <p:cNvSpPr/>
          <p:nvPr/>
        </p:nvSpPr>
        <p:spPr>
          <a:xfrm>
            <a:off x="11458937" y="4687748"/>
            <a:ext cx="4004839" cy="461665"/>
          </a:xfrm>
          <a:prstGeom prst="rect">
            <a:avLst/>
          </a:prstGeom>
        </p:spPr>
        <p:txBody>
          <a:bodyPr wrap="square">
            <a:spAutoFit/>
          </a:bodyPr>
          <a:lstStyle/>
          <a:p>
            <a:r>
              <a:rPr lang="en-US" sz="2400" dirty="0">
                <a:solidFill>
                  <a:srgbClr val="FFFFFF"/>
                </a:solidFill>
              </a:rPr>
              <a:t>Sales &amp; Purchase Analytics</a:t>
            </a:r>
          </a:p>
        </p:txBody>
      </p:sp>
      <p:sp>
        <p:nvSpPr>
          <p:cNvPr id="9" name="Rectangle 8"/>
          <p:cNvSpPr/>
          <p:nvPr/>
        </p:nvSpPr>
        <p:spPr>
          <a:xfrm>
            <a:off x="8067554" y="9459027"/>
            <a:ext cx="2847373" cy="461665"/>
          </a:xfrm>
          <a:prstGeom prst="rect">
            <a:avLst/>
          </a:prstGeom>
        </p:spPr>
        <p:txBody>
          <a:bodyPr wrap="square">
            <a:spAutoFit/>
          </a:bodyPr>
          <a:lstStyle/>
          <a:p>
            <a:r>
              <a:rPr lang="en-US" sz="2400" dirty="0">
                <a:solidFill>
                  <a:srgbClr val="FFFFFF"/>
                </a:solidFill>
              </a:rPr>
              <a:t>Staff Dashboard</a:t>
            </a:r>
          </a:p>
        </p:txBody>
      </p:sp>
      <p:sp>
        <p:nvSpPr>
          <p:cNvPr id="10" name="Rectangle 9"/>
          <p:cNvSpPr/>
          <p:nvPr/>
        </p:nvSpPr>
        <p:spPr>
          <a:xfrm>
            <a:off x="2818856" y="4648557"/>
            <a:ext cx="3318537" cy="461665"/>
          </a:xfrm>
          <a:prstGeom prst="rect">
            <a:avLst/>
          </a:prstGeom>
        </p:spPr>
        <p:txBody>
          <a:bodyPr wrap="none">
            <a:spAutoFit/>
          </a:bodyPr>
          <a:lstStyle/>
          <a:p>
            <a:r>
              <a:rPr lang="en-US" sz="2400" dirty="0">
                <a:solidFill>
                  <a:srgbClr val="FFFFFF"/>
                </a:solidFill>
              </a:rPr>
              <a:t>Pharmacist Dashboard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30733"/>
        </a:solidFill>
        <a:effectLst/>
      </p:bgPr>
    </p:bg>
    <p:spTree>
      <p:nvGrpSpPr>
        <p:cNvPr id="1" name="Shape 261"/>
        <p:cNvGrpSpPr/>
        <p:nvPr/>
      </p:nvGrpSpPr>
      <p:grpSpPr>
        <a:xfrm>
          <a:off x="0" y="0"/>
          <a:ext cx="0" cy="0"/>
          <a:chOff x="0" y="0"/>
          <a:chExt cx="0" cy="0"/>
        </a:xfrm>
      </p:grpSpPr>
      <p:sp>
        <p:nvSpPr>
          <p:cNvPr id="262" name="Google Shape;262;p8"/>
          <p:cNvSpPr txBox="1"/>
          <p:nvPr/>
        </p:nvSpPr>
        <p:spPr>
          <a:xfrm>
            <a:off x="9296400" y="800100"/>
            <a:ext cx="8305800" cy="323126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dirty="0">
                <a:solidFill>
                  <a:srgbClr val="FFFFFF"/>
                </a:solidFill>
                <a:latin typeface="Bricolage Grotesque"/>
                <a:ea typeface="Bricolage Grotesque"/>
                <a:cs typeface="Bricolage Grotesque"/>
                <a:sym typeface="Bricolage Grotesque"/>
              </a:rPr>
              <a:t>Medical Inventory Management</a:t>
            </a:r>
            <a:r>
              <a:rPr lang="en-US" sz="4200" b="1" i="0" u="none" strike="noStrike" cap="none" dirty="0">
                <a:solidFill>
                  <a:srgbClr val="FFFFFF"/>
                </a:solidFill>
                <a:latin typeface="Bricolage Grotesque"/>
                <a:ea typeface="Bricolage Grotesque"/>
                <a:cs typeface="Bricolage Grotesque"/>
                <a:sym typeface="Bricolage Grotesque"/>
              </a:rPr>
              <a:t> Process</a:t>
            </a:r>
            <a:endParaRPr dirty="0"/>
          </a:p>
        </p:txBody>
      </p:sp>
      <p:grpSp>
        <p:nvGrpSpPr>
          <p:cNvPr id="263" name="Google Shape;263;p8"/>
          <p:cNvGrpSpPr/>
          <p:nvPr/>
        </p:nvGrpSpPr>
        <p:grpSpPr>
          <a:xfrm>
            <a:off x="9296400" y="3917156"/>
            <a:ext cx="6453900" cy="731406"/>
            <a:chOff x="0" y="-9525"/>
            <a:chExt cx="8605200" cy="975207"/>
          </a:xfrm>
        </p:grpSpPr>
        <p:sp>
          <p:nvSpPr>
            <p:cNvPr id="264" name="Google Shape;264;p8"/>
            <p:cNvSpPr txBox="1"/>
            <p:nvPr/>
          </p:nvSpPr>
          <p:spPr>
            <a:xfrm>
              <a:off x="0" y="-9525"/>
              <a:ext cx="8348289" cy="344709"/>
            </a:xfrm>
            <a:prstGeom prst="rect">
              <a:avLst/>
            </a:prstGeom>
            <a:noFill/>
            <a:ln>
              <a:noFill/>
            </a:ln>
          </p:spPr>
          <p:txBody>
            <a:bodyPr spcFirstLastPara="1" wrap="square" lIns="0" tIns="0" rIns="0" bIns="0" anchor="t" anchorCtr="0">
              <a:spAutoFit/>
            </a:bodyPr>
            <a:lstStyle/>
            <a:p>
              <a:pPr marL="0" marR="0" lvl="0" indent="0" algn="l" rtl="0">
                <a:lnSpc>
                  <a:spcPct val="119976"/>
                </a:lnSpc>
                <a:spcBef>
                  <a:spcPts val="0"/>
                </a:spcBef>
                <a:spcAft>
                  <a:spcPts val="0"/>
                </a:spcAft>
                <a:buNone/>
              </a:pPr>
              <a:endParaRPr dirty="0"/>
            </a:p>
          </p:txBody>
        </p:sp>
        <p:sp>
          <p:nvSpPr>
            <p:cNvPr id="265" name="Google Shape;265;p8"/>
            <p:cNvSpPr txBox="1"/>
            <p:nvPr/>
          </p:nvSpPr>
          <p:spPr>
            <a:xfrm>
              <a:off x="0" y="620973"/>
              <a:ext cx="8605200" cy="344709"/>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endParaRPr dirty="0"/>
            </a:p>
          </p:txBody>
        </p:sp>
      </p:grpSp>
      <p:grpSp>
        <p:nvGrpSpPr>
          <p:cNvPr id="266" name="Google Shape;266;p8"/>
          <p:cNvGrpSpPr/>
          <p:nvPr/>
        </p:nvGrpSpPr>
        <p:grpSpPr>
          <a:xfrm>
            <a:off x="9296400" y="5707852"/>
            <a:ext cx="5448300" cy="731407"/>
            <a:chOff x="0" y="-9525"/>
            <a:chExt cx="7264400" cy="975209"/>
          </a:xfrm>
        </p:grpSpPr>
        <p:sp>
          <p:nvSpPr>
            <p:cNvPr id="267" name="Google Shape;267;p8"/>
            <p:cNvSpPr txBox="1"/>
            <p:nvPr/>
          </p:nvSpPr>
          <p:spPr>
            <a:xfrm>
              <a:off x="0" y="-9525"/>
              <a:ext cx="7264400" cy="344709"/>
            </a:xfrm>
            <a:prstGeom prst="rect">
              <a:avLst/>
            </a:prstGeom>
            <a:noFill/>
            <a:ln>
              <a:noFill/>
            </a:ln>
          </p:spPr>
          <p:txBody>
            <a:bodyPr spcFirstLastPara="1" wrap="square" lIns="0" tIns="0" rIns="0" bIns="0" anchor="t" anchorCtr="0">
              <a:spAutoFit/>
            </a:bodyPr>
            <a:lstStyle/>
            <a:p>
              <a:pPr marL="0" marR="0" lvl="0" indent="0" algn="l" rtl="0">
                <a:lnSpc>
                  <a:spcPct val="119976"/>
                </a:lnSpc>
                <a:spcBef>
                  <a:spcPts val="0"/>
                </a:spcBef>
                <a:spcAft>
                  <a:spcPts val="0"/>
                </a:spcAft>
                <a:buNone/>
              </a:pPr>
              <a:endParaRPr dirty="0"/>
            </a:p>
          </p:txBody>
        </p:sp>
        <p:sp>
          <p:nvSpPr>
            <p:cNvPr id="268" name="Google Shape;268;p8"/>
            <p:cNvSpPr txBox="1"/>
            <p:nvPr/>
          </p:nvSpPr>
          <p:spPr>
            <a:xfrm>
              <a:off x="0" y="620975"/>
              <a:ext cx="7264400" cy="344709"/>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endParaRPr dirty="0"/>
            </a:p>
          </p:txBody>
        </p:sp>
      </p:grpSp>
      <p:grpSp>
        <p:nvGrpSpPr>
          <p:cNvPr id="269" name="Google Shape;269;p8"/>
          <p:cNvGrpSpPr/>
          <p:nvPr/>
        </p:nvGrpSpPr>
        <p:grpSpPr>
          <a:xfrm>
            <a:off x="9296400" y="7498550"/>
            <a:ext cx="6453900" cy="731412"/>
            <a:chOff x="0" y="-9533"/>
            <a:chExt cx="8605200" cy="975215"/>
          </a:xfrm>
        </p:grpSpPr>
        <p:sp>
          <p:nvSpPr>
            <p:cNvPr id="270" name="Google Shape;270;p8"/>
            <p:cNvSpPr txBox="1"/>
            <p:nvPr/>
          </p:nvSpPr>
          <p:spPr>
            <a:xfrm>
              <a:off x="0" y="-9533"/>
              <a:ext cx="8605200" cy="344709"/>
            </a:xfrm>
            <a:prstGeom prst="rect">
              <a:avLst/>
            </a:prstGeom>
            <a:noFill/>
            <a:ln>
              <a:noFill/>
            </a:ln>
          </p:spPr>
          <p:txBody>
            <a:bodyPr spcFirstLastPara="1" wrap="square" lIns="0" tIns="0" rIns="0" bIns="0" anchor="t" anchorCtr="0">
              <a:spAutoFit/>
            </a:bodyPr>
            <a:lstStyle/>
            <a:p>
              <a:pPr marL="0" marR="0" lvl="0" indent="0" algn="l" rtl="0">
                <a:lnSpc>
                  <a:spcPct val="119976"/>
                </a:lnSpc>
                <a:spcBef>
                  <a:spcPts val="0"/>
                </a:spcBef>
                <a:spcAft>
                  <a:spcPts val="0"/>
                </a:spcAft>
                <a:buNone/>
              </a:pPr>
              <a:endParaRPr dirty="0"/>
            </a:p>
          </p:txBody>
        </p:sp>
        <p:sp>
          <p:nvSpPr>
            <p:cNvPr id="271" name="Google Shape;271;p8"/>
            <p:cNvSpPr txBox="1"/>
            <p:nvPr/>
          </p:nvSpPr>
          <p:spPr>
            <a:xfrm>
              <a:off x="0" y="620973"/>
              <a:ext cx="7264400" cy="344709"/>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endParaRPr dirty="0"/>
            </a:p>
          </p:txBody>
        </p:sp>
      </p:grpSp>
      <p:grpSp>
        <p:nvGrpSpPr>
          <p:cNvPr id="273" name="Google Shape;273;p8"/>
          <p:cNvGrpSpPr/>
          <p:nvPr/>
        </p:nvGrpSpPr>
        <p:grpSpPr>
          <a:xfrm rot="10800000">
            <a:off x="15557618" y="6934200"/>
            <a:ext cx="3479615" cy="4575762"/>
            <a:chOff x="-101668" y="-68231"/>
            <a:chExt cx="4639486" cy="6101015"/>
          </a:xfrm>
        </p:grpSpPr>
        <p:grpSp>
          <p:nvGrpSpPr>
            <p:cNvPr id="274" name="Google Shape;274;p8"/>
            <p:cNvGrpSpPr/>
            <p:nvPr/>
          </p:nvGrpSpPr>
          <p:grpSpPr>
            <a:xfrm rot="-2700000">
              <a:off x="-103522" y="2896431"/>
              <a:ext cx="4441804" cy="1834612"/>
              <a:chOff x="0" y="-28575"/>
              <a:chExt cx="882773" cy="364614"/>
            </a:xfrm>
          </p:grpSpPr>
          <p:sp>
            <p:nvSpPr>
              <p:cNvPr id="275" name="Google Shape;275;p8"/>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cmpd="sng">
                <a:solidFill>
                  <a:srgbClr val="D4F59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txBox="1"/>
              <p:nvPr/>
            </p:nvSpPr>
            <p:spPr>
              <a:xfrm>
                <a:off x="0" y="-28575"/>
                <a:ext cx="882773" cy="364614"/>
              </a:xfrm>
              <a:prstGeom prst="rect">
                <a:avLst/>
              </a:prstGeom>
              <a:noFill/>
              <a:ln>
                <a:noFill/>
              </a:ln>
            </p:spPr>
            <p:txBody>
              <a:bodyPr spcFirstLastPara="1" wrap="square" lIns="152525" tIns="152525" rIns="152525" bIns="152525" anchor="ctr" anchorCtr="0">
                <a:noAutofit/>
              </a:bodyPr>
              <a:lstStyle/>
              <a:p>
                <a:pPr marL="0" marR="0" lvl="0" indent="0" algn="ctr" rtl="0">
                  <a:lnSpc>
                    <a:spcPct val="130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7" name="Google Shape;277;p8"/>
            <p:cNvGrpSpPr/>
            <p:nvPr/>
          </p:nvGrpSpPr>
          <p:grpSpPr>
            <a:xfrm rot="-2700000">
              <a:off x="85262" y="1249274"/>
              <a:ext cx="4471480" cy="1798621"/>
              <a:chOff x="0" y="-19050"/>
              <a:chExt cx="882773" cy="355089"/>
            </a:xfrm>
          </p:grpSpPr>
          <p:sp>
            <p:nvSpPr>
              <p:cNvPr id="278" name="Google Shape;278;p8"/>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B0AF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8"/>
              <p:cNvSpPr txBox="1"/>
              <p:nvPr/>
            </p:nvSpPr>
            <p:spPr>
              <a:xfrm>
                <a:off x="0" y="-19050"/>
                <a:ext cx="882773" cy="355089"/>
              </a:xfrm>
              <a:prstGeom prst="rect">
                <a:avLst/>
              </a:prstGeom>
              <a:noFill/>
              <a:ln>
                <a:noFill/>
              </a:ln>
            </p:spPr>
            <p:txBody>
              <a:bodyPr spcFirstLastPara="1" wrap="square" lIns="55700" tIns="55700" rIns="55700" bIns="55700" anchor="ctr" anchorCtr="0">
                <a:noAutofit/>
              </a:bodyPr>
              <a:lstStyle/>
              <a:p>
                <a:pPr marL="0" marR="0" lvl="0" indent="0" algn="ctr" rtl="0">
                  <a:lnSpc>
                    <a:spcPct val="41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968" y="307643"/>
            <a:ext cx="7642746" cy="9753600"/>
          </a:xfrm>
          <a:prstGeom prst="rect">
            <a:avLst/>
          </a:prstGeom>
        </p:spPr>
      </p:pic>
      <p:sp>
        <p:nvSpPr>
          <p:cNvPr id="3" name="Rectangle 2"/>
          <p:cNvSpPr/>
          <p:nvPr/>
        </p:nvSpPr>
        <p:spPr>
          <a:xfrm>
            <a:off x="8788589" y="3077262"/>
            <a:ext cx="9075761" cy="4893647"/>
          </a:xfrm>
          <a:prstGeom prst="rect">
            <a:avLst/>
          </a:prstGeom>
        </p:spPr>
        <p:txBody>
          <a:bodyPr wrap="square">
            <a:spAutoFit/>
          </a:bodyPr>
          <a:lstStyle/>
          <a:p>
            <a:r>
              <a:rPr lang="en-US" sz="2400" b="1" dirty="0">
                <a:solidFill>
                  <a:srgbClr val="FFFFFF"/>
                </a:solidFill>
              </a:rPr>
              <a:t>Easy Medicine Management</a:t>
            </a:r>
          </a:p>
          <a:p>
            <a:r>
              <a:rPr lang="en-US" sz="2400" dirty="0">
                <a:solidFill>
                  <a:srgbClr val="FFFFFF"/>
                </a:solidFill>
              </a:rPr>
              <a:t>The system allows staff to easily add, update, delete and manage medicine details, including stock and expiry information</a:t>
            </a:r>
            <a:r>
              <a:rPr lang="en-US" sz="2400" dirty="0" smtClean="0">
                <a:solidFill>
                  <a:srgbClr val="FFFFFF"/>
                </a:solidFill>
              </a:rPr>
              <a:t>.</a:t>
            </a:r>
          </a:p>
          <a:p>
            <a:endParaRPr lang="en-US" sz="2400" dirty="0">
              <a:solidFill>
                <a:schemeClr val="bg1"/>
              </a:solidFill>
            </a:endParaRPr>
          </a:p>
          <a:p>
            <a:r>
              <a:rPr lang="en-US" sz="2400" b="1" dirty="0">
                <a:solidFill>
                  <a:srgbClr val="FFFFFF"/>
                </a:solidFill>
              </a:rPr>
              <a:t>Secure Authentication</a:t>
            </a:r>
          </a:p>
          <a:p>
            <a:r>
              <a:rPr lang="en-US" sz="2400" dirty="0">
                <a:solidFill>
                  <a:srgbClr val="FFFFFF"/>
                </a:solidFill>
              </a:rPr>
              <a:t>JWT-based authentication and role-based access control help protect inventory data and provide secure access to authorized users</a:t>
            </a:r>
            <a:r>
              <a:rPr lang="en-US" sz="2400" dirty="0" smtClean="0">
                <a:solidFill>
                  <a:srgbClr val="FFFFFF"/>
                </a:solidFill>
              </a:rPr>
              <a:t>.</a:t>
            </a:r>
          </a:p>
          <a:p>
            <a:endParaRPr lang="en-US" sz="2400" dirty="0">
              <a:solidFill>
                <a:schemeClr val="bg1"/>
              </a:solidFill>
            </a:endParaRPr>
          </a:p>
          <a:p>
            <a:r>
              <a:rPr lang="en-US" sz="2400" b="1" dirty="0">
                <a:solidFill>
                  <a:srgbClr val="FFFFFF"/>
                </a:solidFill>
              </a:rPr>
              <a:t>Smart Dashboard Access</a:t>
            </a:r>
          </a:p>
          <a:p>
            <a:r>
              <a:rPr lang="en-US" sz="2400" dirty="0">
                <a:solidFill>
                  <a:srgbClr val="FFFFFF"/>
                </a:solidFill>
              </a:rPr>
              <a:t>The </a:t>
            </a:r>
            <a:r>
              <a:rPr lang="en-US" sz="2400" dirty="0" err="1">
                <a:solidFill>
                  <a:srgbClr val="FFFFFF"/>
                </a:solidFill>
              </a:rPr>
              <a:t>Medistock</a:t>
            </a:r>
            <a:r>
              <a:rPr lang="en-US" sz="2400" dirty="0">
                <a:solidFill>
                  <a:srgbClr val="FFFFFF"/>
                </a:solidFill>
              </a:rPr>
              <a:t> dashboard provides real-time information about stock levels, expiry alerts, purchases, suppliers, reports and inventory analytics.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F4A"/>
        </a:solidFill>
        <a:effectLst/>
      </p:bgPr>
    </p:bg>
    <p:spTree>
      <p:nvGrpSpPr>
        <p:cNvPr id="1" name="Shape 283"/>
        <p:cNvGrpSpPr/>
        <p:nvPr/>
      </p:nvGrpSpPr>
      <p:grpSpPr>
        <a:xfrm>
          <a:off x="0" y="0"/>
          <a:ext cx="0" cy="0"/>
          <a:chOff x="0" y="0"/>
          <a:chExt cx="0" cy="0"/>
        </a:xfrm>
      </p:grpSpPr>
      <p:grpSp>
        <p:nvGrpSpPr>
          <p:cNvPr id="284" name="Google Shape;284;p10"/>
          <p:cNvGrpSpPr/>
          <p:nvPr/>
        </p:nvGrpSpPr>
        <p:grpSpPr>
          <a:xfrm>
            <a:off x="12766876" y="7291791"/>
            <a:ext cx="4135162" cy="1392736"/>
            <a:chOff x="-166949" y="-239433"/>
            <a:chExt cx="5513549" cy="1856980"/>
          </a:xfrm>
        </p:grpSpPr>
        <p:sp>
          <p:nvSpPr>
            <p:cNvPr id="285" name="Google Shape;285;p10"/>
            <p:cNvSpPr txBox="1"/>
            <p:nvPr/>
          </p:nvSpPr>
          <p:spPr>
            <a:xfrm>
              <a:off x="0" y="-239433"/>
              <a:ext cx="5346600" cy="393955"/>
            </a:xfrm>
            <a:prstGeom prst="rect">
              <a:avLst/>
            </a:prstGeom>
            <a:noFill/>
            <a:ln>
              <a:noFill/>
            </a:ln>
          </p:spPr>
          <p:txBody>
            <a:bodyPr spcFirstLastPara="1" wrap="square" lIns="0" tIns="0" rIns="0" bIns="0" anchor="t" anchorCtr="0">
              <a:spAutoFit/>
            </a:bodyPr>
            <a:lstStyle/>
            <a:p>
              <a:pPr lvl="0" algn="ctr">
                <a:lnSpc>
                  <a:spcPct val="120000"/>
                </a:lnSpc>
              </a:pPr>
              <a:r>
                <a:rPr lang="en-US" sz="1600" dirty="0">
                  <a:solidFill>
                    <a:srgbClr val="FFFFFF"/>
                  </a:solidFill>
                </a:rPr>
                <a:t>Automated Supplier Management</a:t>
              </a:r>
              <a:endParaRPr dirty="0">
                <a:solidFill>
                  <a:schemeClr val="bg1"/>
                </a:solidFill>
              </a:endParaRPr>
            </a:p>
          </p:txBody>
        </p:sp>
        <p:sp>
          <p:nvSpPr>
            <p:cNvPr id="286" name="Google Shape;286;p10"/>
            <p:cNvSpPr txBox="1"/>
            <p:nvPr/>
          </p:nvSpPr>
          <p:spPr>
            <a:xfrm>
              <a:off x="-166949" y="435685"/>
              <a:ext cx="5513549" cy="1181862"/>
            </a:xfrm>
            <a:prstGeom prst="rect">
              <a:avLst/>
            </a:prstGeom>
            <a:noFill/>
            <a:ln>
              <a:noFill/>
            </a:ln>
          </p:spPr>
          <p:txBody>
            <a:bodyPr spcFirstLastPara="1" wrap="square" lIns="0" tIns="0" rIns="0" bIns="0" anchor="t" anchorCtr="0">
              <a:spAutoFit/>
            </a:bodyPr>
            <a:lstStyle/>
            <a:p>
              <a:pPr marL="321724" lvl="1" indent="-160862" algn="ctr">
                <a:lnSpc>
                  <a:spcPct val="120000"/>
                </a:lnSpc>
                <a:buClr>
                  <a:srgbClr val="B0AFD3"/>
                </a:buClr>
                <a:buSzPts val="1490"/>
                <a:buFont typeface="Arial"/>
                <a:buChar char="•"/>
              </a:pPr>
              <a:r>
                <a:rPr lang="en-US" sz="1600" dirty="0">
                  <a:solidFill>
                    <a:srgbClr val="FFFFFF"/>
                  </a:solidFill>
                </a:rPr>
                <a:t>Streamline supplier communication.</a:t>
              </a:r>
              <a:r>
                <a:rPr lang="en-US" sz="1600" dirty="0">
                  <a:solidFill>
                    <a:schemeClr val="bg1"/>
                  </a:solidFill>
                </a:rPr>
                <a:t/>
              </a:r>
              <a:br>
                <a:rPr lang="en-US" sz="1600" dirty="0">
                  <a:solidFill>
                    <a:schemeClr val="bg1"/>
                  </a:solidFill>
                </a:rPr>
              </a:br>
              <a:r>
                <a:rPr lang="en-US" sz="1600" dirty="0">
                  <a:solidFill>
                    <a:srgbClr val="FFFFFF"/>
                  </a:solidFill>
                </a:rPr>
                <a:t>• Automate purchase order generation.</a:t>
              </a:r>
              <a:r>
                <a:rPr lang="en-US" sz="1600" dirty="0">
                  <a:solidFill>
                    <a:schemeClr val="bg1"/>
                  </a:solidFill>
                </a:rPr>
                <a:t/>
              </a:r>
              <a:br>
                <a:rPr lang="en-US" sz="1600" dirty="0">
                  <a:solidFill>
                    <a:schemeClr val="bg1"/>
                  </a:solidFill>
                </a:rPr>
              </a:br>
              <a:r>
                <a:rPr lang="en-US" sz="1600" dirty="0">
                  <a:solidFill>
                    <a:srgbClr val="FFFFFF"/>
                  </a:solidFill>
                </a:rPr>
                <a:t>• Improve procurement efficiency.</a:t>
              </a:r>
              <a:endParaRPr sz="1490" b="0" i="0" u="none" strike="noStrike" cap="none" dirty="0">
                <a:solidFill>
                  <a:schemeClr val="bg1"/>
                </a:solidFill>
                <a:sym typeface="Arial"/>
              </a:endParaRPr>
            </a:p>
          </p:txBody>
        </p:sp>
      </p:grpSp>
      <p:grpSp>
        <p:nvGrpSpPr>
          <p:cNvPr id="287" name="Google Shape;287;p10"/>
          <p:cNvGrpSpPr/>
          <p:nvPr/>
        </p:nvGrpSpPr>
        <p:grpSpPr>
          <a:xfrm>
            <a:off x="7138988" y="7291796"/>
            <a:ext cx="4009951" cy="1688196"/>
            <a:chOff x="0" y="-232283"/>
            <a:chExt cx="5346601" cy="2250927"/>
          </a:xfrm>
        </p:grpSpPr>
        <p:sp>
          <p:nvSpPr>
            <p:cNvPr id="288" name="Google Shape;288;p10"/>
            <p:cNvSpPr txBox="1"/>
            <p:nvPr/>
          </p:nvSpPr>
          <p:spPr>
            <a:xfrm>
              <a:off x="0" y="-232283"/>
              <a:ext cx="5346600" cy="393955"/>
            </a:xfrm>
            <a:prstGeom prst="rect">
              <a:avLst/>
            </a:prstGeom>
            <a:noFill/>
            <a:ln>
              <a:noFill/>
            </a:ln>
          </p:spPr>
          <p:txBody>
            <a:bodyPr spcFirstLastPara="1" wrap="square" lIns="0" tIns="0" rIns="0" bIns="0" anchor="t" anchorCtr="0">
              <a:spAutoFit/>
            </a:bodyPr>
            <a:lstStyle/>
            <a:p>
              <a:pPr lvl="0" algn="ctr">
                <a:lnSpc>
                  <a:spcPct val="120000"/>
                </a:lnSpc>
              </a:pPr>
              <a:r>
                <a:rPr lang="en-US" sz="1600" dirty="0">
                  <a:solidFill>
                    <a:srgbClr val="FFFFFF"/>
                  </a:solidFill>
                </a:rPr>
                <a:t>Advanced Analytics Dashboard</a:t>
              </a:r>
              <a:endParaRPr dirty="0">
                <a:solidFill>
                  <a:schemeClr val="bg1"/>
                </a:solidFill>
              </a:endParaRPr>
            </a:p>
          </p:txBody>
        </p:sp>
        <p:sp>
          <p:nvSpPr>
            <p:cNvPr id="289" name="Google Shape;289;p10"/>
            <p:cNvSpPr txBox="1"/>
            <p:nvPr/>
          </p:nvSpPr>
          <p:spPr>
            <a:xfrm>
              <a:off x="142353" y="442829"/>
              <a:ext cx="5204248" cy="1575815"/>
            </a:xfrm>
            <a:prstGeom prst="rect">
              <a:avLst/>
            </a:prstGeom>
            <a:noFill/>
            <a:ln>
              <a:noFill/>
            </a:ln>
          </p:spPr>
          <p:txBody>
            <a:bodyPr spcFirstLastPara="1" wrap="square" lIns="0" tIns="0" rIns="0" bIns="0" anchor="t" anchorCtr="0">
              <a:spAutoFit/>
            </a:bodyPr>
            <a:lstStyle/>
            <a:p>
              <a:pPr marL="321724" lvl="1" indent="-160862" algn="ctr">
                <a:lnSpc>
                  <a:spcPct val="120000"/>
                </a:lnSpc>
                <a:buClr>
                  <a:srgbClr val="B0AFD3"/>
                </a:buClr>
                <a:buSzPts val="1490"/>
                <a:buFont typeface="Arial"/>
                <a:buChar char="•"/>
              </a:pPr>
              <a:r>
                <a:rPr lang="en-US" sz="1600" dirty="0">
                  <a:solidFill>
                    <a:srgbClr val="FFFFFF"/>
                  </a:solidFill>
                </a:rPr>
                <a:t>Provide detailed inventory insights.</a:t>
              </a:r>
              <a:r>
                <a:rPr lang="en-US" sz="1600" dirty="0">
                  <a:solidFill>
                    <a:schemeClr val="bg1"/>
                  </a:solidFill>
                </a:rPr>
                <a:t/>
              </a:r>
              <a:br>
                <a:rPr lang="en-US" sz="1600" dirty="0">
                  <a:solidFill>
                    <a:schemeClr val="bg1"/>
                  </a:solidFill>
                </a:rPr>
              </a:br>
              <a:r>
                <a:rPr lang="en-US" sz="1600" dirty="0">
                  <a:solidFill>
                    <a:srgbClr val="FFFFFF"/>
                  </a:solidFill>
                </a:rPr>
                <a:t>• Track medicine usage and stock trends.</a:t>
              </a:r>
              <a:r>
                <a:rPr lang="en-US" sz="1600" dirty="0">
                  <a:solidFill>
                    <a:schemeClr val="bg1"/>
                  </a:solidFill>
                </a:rPr>
                <a:t/>
              </a:r>
              <a:br>
                <a:rPr lang="en-US" sz="1600" dirty="0">
                  <a:solidFill>
                    <a:schemeClr val="bg1"/>
                  </a:solidFill>
                </a:rPr>
              </a:br>
              <a:r>
                <a:rPr lang="en-US" sz="1600" dirty="0">
                  <a:solidFill>
                    <a:srgbClr val="FFFFFF"/>
                  </a:solidFill>
                </a:rPr>
                <a:t>• Support data-driven decision making.</a:t>
              </a:r>
              <a:endParaRPr sz="1490" b="0" i="0" u="none" strike="noStrike" cap="none" dirty="0">
                <a:solidFill>
                  <a:schemeClr val="bg1"/>
                </a:solidFill>
                <a:sym typeface="Arial"/>
              </a:endParaRPr>
            </a:p>
          </p:txBody>
        </p:sp>
      </p:grpSp>
      <p:grpSp>
        <p:nvGrpSpPr>
          <p:cNvPr id="290" name="Google Shape;290;p10"/>
          <p:cNvGrpSpPr/>
          <p:nvPr/>
        </p:nvGrpSpPr>
        <p:grpSpPr>
          <a:xfrm>
            <a:off x="1059225" y="7289375"/>
            <a:ext cx="5055827" cy="2281548"/>
            <a:chOff x="-693504" y="49429"/>
            <a:chExt cx="7318800" cy="3042065"/>
          </a:xfrm>
        </p:grpSpPr>
        <p:sp>
          <p:nvSpPr>
            <p:cNvPr id="291" name="Google Shape;291;p10"/>
            <p:cNvSpPr txBox="1"/>
            <p:nvPr/>
          </p:nvSpPr>
          <p:spPr>
            <a:xfrm>
              <a:off x="-693504" y="49429"/>
              <a:ext cx="7318800" cy="393955"/>
            </a:xfrm>
            <a:prstGeom prst="rect">
              <a:avLst/>
            </a:prstGeom>
            <a:noFill/>
            <a:ln>
              <a:noFill/>
            </a:ln>
          </p:spPr>
          <p:txBody>
            <a:bodyPr spcFirstLastPara="1" wrap="square" lIns="0" tIns="0" rIns="0" bIns="0" anchor="t" anchorCtr="0">
              <a:spAutoFit/>
            </a:bodyPr>
            <a:lstStyle/>
            <a:p>
              <a:pPr lvl="0" algn="ctr">
                <a:lnSpc>
                  <a:spcPct val="120000"/>
                </a:lnSpc>
              </a:pPr>
              <a:r>
                <a:rPr lang="en-US" sz="1600" dirty="0">
                  <a:solidFill>
                    <a:srgbClr val="FFFFFF"/>
                  </a:solidFill>
                </a:rPr>
                <a:t>AI-Powered Inventory Optimization</a:t>
              </a:r>
              <a:endParaRPr dirty="0">
                <a:solidFill>
                  <a:schemeClr val="bg1"/>
                </a:solidFill>
              </a:endParaRPr>
            </a:p>
          </p:txBody>
        </p:sp>
        <p:sp>
          <p:nvSpPr>
            <p:cNvPr id="292" name="Google Shape;292;p10"/>
            <p:cNvSpPr txBox="1"/>
            <p:nvPr/>
          </p:nvSpPr>
          <p:spPr>
            <a:xfrm>
              <a:off x="8521" y="727769"/>
              <a:ext cx="5346600" cy="2363725"/>
            </a:xfrm>
            <a:prstGeom prst="rect">
              <a:avLst/>
            </a:prstGeom>
            <a:noFill/>
            <a:ln>
              <a:noFill/>
            </a:ln>
          </p:spPr>
          <p:txBody>
            <a:bodyPr spcFirstLastPara="1" wrap="square" lIns="0" tIns="0" rIns="0" bIns="0" anchor="t" anchorCtr="0">
              <a:spAutoFit/>
            </a:bodyPr>
            <a:lstStyle/>
            <a:p>
              <a:pPr marL="321724" lvl="1" indent="-160862" algn="ctr">
                <a:lnSpc>
                  <a:spcPct val="120000"/>
                </a:lnSpc>
                <a:buClr>
                  <a:srgbClr val="B0AFD3"/>
                </a:buClr>
                <a:buSzPts val="1490"/>
                <a:buFont typeface="Arial"/>
                <a:buChar char="•"/>
              </a:pPr>
              <a:r>
                <a:rPr lang="en-US" sz="1600" dirty="0">
                  <a:solidFill>
                    <a:srgbClr val="FFFFFF"/>
                  </a:solidFill>
                </a:rPr>
                <a:t>Analyze inventory patterns automatically.</a:t>
              </a:r>
              <a:r>
                <a:rPr lang="en-US" sz="1600" dirty="0">
                  <a:solidFill>
                    <a:schemeClr val="bg1"/>
                  </a:solidFill>
                </a:rPr>
                <a:t/>
              </a:r>
              <a:br>
                <a:rPr lang="en-US" sz="1600" dirty="0">
                  <a:solidFill>
                    <a:schemeClr val="bg1"/>
                  </a:solidFill>
                </a:rPr>
              </a:br>
              <a:r>
                <a:rPr lang="en-US" sz="1600" dirty="0">
                  <a:solidFill>
                    <a:srgbClr val="FFFFFF"/>
                  </a:solidFill>
                </a:rPr>
                <a:t>• Generate smart stock recommendations.</a:t>
              </a:r>
              <a:r>
                <a:rPr lang="en-US" sz="1600" dirty="0">
                  <a:solidFill>
                    <a:schemeClr val="bg1"/>
                  </a:solidFill>
                </a:rPr>
                <a:t/>
              </a:r>
              <a:br>
                <a:rPr lang="en-US" sz="1600" dirty="0">
                  <a:solidFill>
                    <a:schemeClr val="bg1"/>
                  </a:solidFill>
                </a:rPr>
              </a:br>
              <a:r>
                <a:rPr lang="en-US" sz="1600" dirty="0">
                  <a:solidFill>
                    <a:srgbClr val="FFFFFF"/>
                  </a:solidFill>
                </a:rPr>
                <a:t>• Improve inventory planning and efficiency.</a:t>
              </a:r>
              <a:endParaRPr sz="1490" b="0" i="0" u="none" strike="noStrike" cap="none" dirty="0">
                <a:solidFill>
                  <a:schemeClr val="bg1"/>
                </a:solidFill>
                <a:sym typeface="Arial"/>
              </a:endParaRPr>
            </a:p>
          </p:txBody>
        </p:sp>
      </p:grpSp>
      <p:sp>
        <p:nvSpPr>
          <p:cNvPr id="293" name="Google Shape;293;p10"/>
          <p:cNvSpPr txBox="1"/>
          <p:nvPr/>
        </p:nvSpPr>
        <p:spPr>
          <a:xfrm>
            <a:off x="666750" y="800100"/>
            <a:ext cx="16954500" cy="107709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999" b="1" i="0" u="none" strike="noStrike" cap="none" dirty="0">
                <a:solidFill>
                  <a:srgbClr val="FFFFFF"/>
                </a:solidFill>
                <a:latin typeface="Bricolage Grotesque SemiBold"/>
                <a:ea typeface="Bricolage Grotesque SemiBold"/>
                <a:cs typeface="Bricolage Grotesque SemiBold"/>
                <a:sym typeface="Bricolage Grotesque SemiBold"/>
              </a:rPr>
              <a:t>Future Enhancements for </a:t>
            </a:r>
            <a:r>
              <a:rPr lang="en-US" sz="6999" b="1" i="0" u="none" strike="noStrike" cap="none" dirty="0" err="1">
                <a:solidFill>
                  <a:srgbClr val="FFFFFF"/>
                </a:solidFill>
                <a:latin typeface="Bricolage Grotesque SemiBold"/>
                <a:ea typeface="Bricolage Grotesque SemiBold"/>
                <a:cs typeface="Bricolage Grotesque SemiBold"/>
                <a:sym typeface="Bricolage Grotesque SemiBold"/>
              </a:rPr>
              <a:t>Medi</a:t>
            </a:r>
            <a:r>
              <a:rPr lang="en-US" sz="6999" b="1" dirty="0" err="1">
                <a:solidFill>
                  <a:srgbClr val="FFFFFF"/>
                </a:solidFill>
                <a:latin typeface="Bricolage Grotesque SemiBold"/>
                <a:ea typeface="Bricolage Grotesque SemiBold"/>
                <a:cs typeface="Bricolage Grotesque SemiBold"/>
                <a:sym typeface="Bricolage Grotesque SemiBold"/>
              </a:rPr>
              <a:t>S</a:t>
            </a:r>
            <a:r>
              <a:rPr lang="en-US" sz="6999" b="1" i="0" u="none" strike="noStrike" cap="none" dirty="0" err="1">
                <a:solidFill>
                  <a:srgbClr val="FFFFFF"/>
                </a:solidFill>
                <a:latin typeface="Bricolage Grotesque SemiBold"/>
                <a:ea typeface="Bricolage Grotesque SemiBold"/>
                <a:cs typeface="Bricolage Grotesque SemiBold"/>
                <a:sym typeface="Bricolage Grotesque SemiBold"/>
              </a:rPr>
              <a:t>tock</a:t>
            </a:r>
            <a:endParaRPr dirty="0"/>
          </a:p>
        </p:txBody>
      </p:sp>
      <p:sp>
        <p:nvSpPr>
          <p:cNvPr id="294" name="Google Shape;294;p10"/>
          <p:cNvSpPr/>
          <p:nvPr/>
        </p:nvSpPr>
        <p:spPr>
          <a:xfrm>
            <a:off x="666750" y="3352800"/>
            <a:ext cx="5448300" cy="3581400"/>
          </a:xfrm>
          <a:custGeom>
            <a:avLst/>
            <a:gdLst/>
            <a:ahLst/>
            <a:cxnLst/>
            <a:rect l="l" t="t" r="r" b="b"/>
            <a:pathLst>
              <a:path w="1631088" h="1072184" extrusionOk="0">
                <a:moveTo>
                  <a:pt x="28420" y="0"/>
                </a:moveTo>
                <a:lnTo>
                  <a:pt x="1602669" y="0"/>
                </a:lnTo>
                <a:cubicBezTo>
                  <a:pt x="1618365" y="0"/>
                  <a:pt x="1631088" y="12724"/>
                  <a:pt x="1631088" y="28420"/>
                </a:cubicBezTo>
                <a:lnTo>
                  <a:pt x="1631088" y="1043764"/>
                </a:lnTo>
                <a:cubicBezTo>
                  <a:pt x="1631088" y="1059460"/>
                  <a:pt x="1618365" y="1072184"/>
                  <a:pt x="1602669" y="1072184"/>
                </a:cubicBezTo>
                <a:lnTo>
                  <a:pt x="28420" y="1072184"/>
                </a:lnTo>
                <a:cubicBezTo>
                  <a:pt x="12724" y="1072184"/>
                  <a:pt x="0" y="1059460"/>
                  <a:pt x="0" y="1043764"/>
                </a:cubicBezTo>
                <a:lnTo>
                  <a:pt x="0" y="28420"/>
                </a:lnTo>
                <a:cubicBezTo>
                  <a:pt x="0" y="12724"/>
                  <a:pt x="12724" y="0"/>
                  <a:pt x="28420" y="0"/>
                </a:cubicBezTo>
                <a:close/>
              </a:path>
            </a:pathLst>
          </a:custGeom>
          <a:blipFill rotWithShape="1">
            <a:blip r:embed="rId3">
              <a:alphaModFix/>
            </a:blip>
            <a:stretch>
              <a:fillRect l="-81" r="-82"/>
            </a:stretch>
          </a:blip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0"/>
          <p:cNvSpPr/>
          <p:nvPr/>
        </p:nvSpPr>
        <p:spPr>
          <a:xfrm>
            <a:off x="6419850" y="3352800"/>
            <a:ext cx="5448300" cy="3581400"/>
          </a:xfrm>
          <a:custGeom>
            <a:avLst/>
            <a:gdLst/>
            <a:ahLst/>
            <a:cxnLst/>
            <a:rect l="l" t="t" r="r" b="b"/>
            <a:pathLst>
              <a:path w="1631088" h="1072184" extrusionOk="0">
                <a:moveTo>
                  <a:pt x="28420" y="0"/>
                </a:moveTo>
                <a:lnTo>
                  <a:pt x="1602669" y="0"/>
                </a:lnTo>
                <a:cubicBezTo>
                  <a:pt x="1618365" y="0"/>
                  <a:pt x="1631088" y="12724"/>
                  <a:pt x="1631088" y="28420"/>
                </a:cubicBezTo>
                <a:lnTo>
                  <a:pt x="1631088" y="1043764"/>
                </a:lnTo>
                <a:cubicBezTo>
                  <a:pt x="1631088" y="1059460"/>
                  <a:pt x="1618365" y="1072184"/>
                  <a:pt x="1602669" y="1072184"/>
                </a:cubicBezTo>
                <a:lnTo>
                  <a:pt x="28420" y="1072184"/>
                </a:lnTo>
                <a:cubicBezTo>
                  <a:pt x="12724" y="1072184"/>
                  <a:pt x="0" y="1059460"/>
                  <a:pt x="0" y="1043764"/>
                </a:cubicBezTo>
                <a:lnTo>
                  <a:pt x="0" y="28420"/>
                </a:lnTo>
                <a:cubicBezTo>
                  <a:pt x="0" y="12724"/>
                  <a:pt x="12724" y="0"/>
                  <a:pt x="28420" y="0"/>
                </a:cubicBezTo>
                <a:close/>
              </a:path>
            </a:pathLst>
          </a:custGeom>
          <a:blipFill rotWithShape="1">
            <a:blip r:embed="rId4">
              <a:alphaModFix/>
            </a:blip>
            <a:stretch>
              <a:fillRect l="-81" r="-82"/>
            </a:stretch>
          </a:blip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0"/>
          <p:cNvSpPr/>
          <p:nvPr/>
        </p:nvSpPr>
        <p:spPr>
          <a:xfrm>
            <a:off x="12172950" y="3352800"/>
            <a:ext cx="5448300" cy="3581400"/>
          </a:xfrm>
          <a:custGeom>
            <a:avLst/>
            <a:gdLst/>
            <a:ahLst/>
            <a:cxnLst/>
            <a:rect l="l" t="t" r="r" b="b"/>
            <a:pathLst>
              <a:path w="1631088" h="1072184" extrusionOk="0">
                <a:moveTo>
                  <a:pt x="28420" y="0"/>
                </a:moveTo>
                <a:lnTo>
                  <a:pt x="1602669" y="0"/>
                </a:lnTo>
                <a:cubicBezTo>
                  <a:pt x="1618365" y="0"/>
                  <a:pt x="1631088" y="12724"/>
                  <a:pt x="1631088" y="28420"/>
                </a:cubicBezTo>
                <a:lnTo>
                  <a:pt x="1631088" y="1043764"/>
                </a:lnTo>
                <a:cubicBezTo>
                  <a:pt x="1631088" y="1059460"/>
                  <a:pt x="1618365" y="1072184"/>
                  <a:pt x="1602669" y="1072184"/>
                </a:cubicBezTo>
                <a:lnTo>
                  <a:pt x="28420" y="1072184"/>
                </a:lnTo>
                <a:cubicBezTo>
                  <a:pt x="12724" y="1072184"/>
                  <a:pt x="0" y="1059460"/>
                  <a:pt x="0" y="1043764"/>
                </a:cubicBezTo>
                <a:lnTo>
                  <a:pt x="0" y="28420"/>
                </a:lnTo>
                <a:cubicBezTo>
                  <a:pt x="0" y="12724"/>
                  <a:pt x="12724" y="0"/>
                  <a:pt x="28420" y="0"/>
                </a:cubicBezTo>
                <a:close/>
              </a:path>
            </a:pathLst>
          </a:custGeom>
          <a:blipFill rotWithShape="1">
            <a:blip r:embed="rId5">
              <a:alphaModFix/>
            </a:blip>
            <a:stretch>
              <a:fillRect l="-81" r="-82"/>
            </a:stretch>
          </a:blip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30733"/>
        </a:solidFill>
        <a:effectLst/>
      </p:bgPr>
    </p:bg>
    <p:spTree>
      <p:nvGrpSpPr>
        <p:cNvPr id="1" name="Shape 300"/>
        <p:cNvGrpSpPr/>
        <p:nvPr/>
      </p:nvGrpSpPr>
      <p:grpSpPr>
        <a:xfrm>
          <a:off x="0" y="0"/>
          <a:ext cx="0" cy="0"/>
          <a:chOff x="0" y="0"/>
          <a:chExt cx="0" cy="0"/>
        </a:xfrm>
      </p:grpSpPr>
      <p:sp>
        <p:nvSpPr>
          <p:cNvPr id="301" name="Google Shape;301;p11"/>
          <p:cNvSpPr txBox="1"/>
          <p:nvPr/>
        </p:nvSpPr>
        <p:spPr>
          <a:xfrm>
            <a:off x="2848950" y="1560600"/>
            <a:ext cx="12590100" cy="198208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9200" b="0" i="0" u="none" strike="noStrike" cap="none" dirty="0" smtClean="0">
                <a:solidFill>
                  <a:srgbClr val="FFFFFF"/>
                </a:solidFill>
                <a:latin typeface="Arial"/>
                <a:ea typeface="Arial"/>
                <a:cs typeface="Arial"/>
                <a:sym typeface="Arial"/>
              </a:rPr>
              <a:t>TEAM-1 </a:t>
            </a:r>
            <a:r>
              <a:rPr lang="en-US" sz="9200" b="0" i="0" u="none" strike="noStrike" cap="none" dirty="0">
                <a:solidFill>
                  <a:srgbClr val="FFFFFF"/>
                </a:solidFill>
                <a:latin typeface="Arial"/>
                <a:ea typeface="Arial"/>
                <a:cs typeface="Arial"/>
                <a:sym typeface="Arial"/>
              </a:rPr>
              <a:t>MEMBERS</a:t>
            </a:r>
            <a:endParaRPr dirty="0"/>
          </a:p>
        </p:txBody>
      </p:sp>
      <p:sp>
        <p:nvSpPr>
          <p:cNvPr id="302" name="Google Shape;302;p11"/>
          <p:cNvSpPr txBox="1"/>
          <p:nvPr/>
        </p:nvSpPr>
        <p:spPr>
          <a:xfrm>
            <a:off x="5886450" y="4152674"/>
            <a:ext cx="6553200" cy="1120115"/>
          </a:xfrm>
          <a:prstGeom prst="rect">
            <a:avLst/>
          </a:prstGeom>
          <a:noFill/>
          <a:ln>
            <a:noFill/>
          </a:ln>
        </p:spPr>
        <p:txBody>
          <a:bodyPr spcFirstLastPara="1" wrap="square" lIns="0" tIns="0" rIns="0" bIns="0" anchor="t" anchorCtr="0">
            <a:spAutoFit/>
          </a:bodyPr>
          <a:lstStyle/>
          <a:p>
            <a:pPr marL="0" marR="0" lvl="0" indent="0" algn="ctr" rtl="0">
              <a:lnSpc>
                <a:spcPct val="140007"/>
              </a:lnSpc>
              <a:spcBef>
                <a:spcPts val="0"/>
              </a:spcBef>
              <a:spcAft>
                <a:spcPts val="0"/>
              </a:spcAft>
              <a:buNone/>
            </a:pPr>
            <a:r>
              <a:rPr lang="en-US" sz="5199" b="1" dirty="0" err="1" smtClean="0">
                <a:solidFill>
                  <a:srgbClr val="FFFFFF"/>
                </a:solidFill>
              </a:rPr>
              <a:t>Tulsi</a:t>
            </a:r>
            <a:r>
              <a:rPr lang="en-US" sz="5199" b="1" dirty="0" smtClean="0">
                <a:solidFill>
                  <a:srgbClr val="FFFFFF"/>
                </a:solidFill>
              </a:rPr>
              <a:t> </a:t>
            </a:r>
            <a:r>
              <a:rPr lang="en-US" sz="5199" b="1" dirty="0" err="1" smtClean="0">
                <a:solidFill>
                  <a:srgbClr val="FFFFFF"/>
                </a:solidFill>
              </a:rPr>
              <a:t>Meoliya</a:t>
            </a:r>
            <a:endParaRPr dirty="0"/>
          </a:p>
        </p:txBody>
      </p:sp>
      <p:sp>
        <p:nvSpPr>
          <p:cNvPr id="304" name="Google Shape;304;p11"/>
          <p:cNvSpPr txBox="1"/>
          <p:nvPr/>
        </p:nvSpPr>
        <p:spPr>
          <a:xfrm>
            <a:off x="4667250" y="5510995"/>
            <a:ext cx="9315450" cy="1120115"/>
          </a:xfrm>
          <a:prstGeom prst="rect">
            <a:avLst/>
          </a:prstGeom>
          <a:noFill/>
          <a:ln>
            <a:noFill/>
          </a:ln>
        </p:spPr>
        <p:txBody>
          <a:bodyPr spcFirstLastPara="1" wrap="square" lIns="0" tIns="0" rIns="0" bIns="0" anchor="t" anchorCtr="0">
            <a:spAutoFit/>
          </a:bodyPr>
          <a:lstStyle/>
          <a:p>
            <a:pPr marL="0" marR="0" lvl="0" indent="0" algn="ctr" rtl="0">
              <a:lnSpc>
                <a:spcPct val="140007"/>
              </a:lnSpc>
              <a:spcBef>
                <a:spcPts val="0"/>
              </a:spcBef>
              <a:spcAft>
                <a:spcPts val="0"/>
              </a:spcAft>
              <a:buNone/>
            </a:pPr>
            <a:r>
              <a:rPr lang="en-US" sz="5199" b="1" dirty="0" smtClean="0">
                <a:solidFill>
                  <a:srgbClr val="FFFFFF"/>
                </a:solidFill>
              </a:rPr>
              <a:t>Sai Krishna </a:t>
            </a:r>
            <a:r>
              <a:rPr lang="en-US" sz="5199" b="1" dirty="0" err="1" smtClean="0">
                <a:solidFill>
                  <a:srgbClr val="FFFFFF"/>
                </a:solidFill>
              </a:rPr>
              <a:t>Balaji</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30733"/>
        </a:solidFill>
        <a:effectLst/>
      </p:bgPr>
    </p:bg>
    <p:spTree>
      <p:nvGrpSpPr>
        <p:cNvPr id="1" name="Shape 311"/>
        <p:cNvGrpSpPr/>
        <p:nvPr/>
      </p:nvGrpSpPr>
      <p:grpSpPr>
        <a:xfrm>
          <a:off x="0" y="0"/>
          <a:ext cx="0" cy="0"/>
          <a:chOff x="0" y="0"/>
          <a:chExt cx="0" cy="0"/>
        </a:xfrm>
      </p:grpSpPr>
      <p:sp>
        <p:nvSpPr>
          <p:cNvPr id="312" name="Google Shape;312;p12"/>
          <p:cNvSpPr txBox="1"/>
          <p:nvPr/>
        </p:nvSpPr>
        <p:spPr>
          <a:xfrm>
            <a:off x="3480181" y="1264697"/>
            <a:ext cx="11844300" cy="1416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9200" b="1" i="0" u="none" strike="noStrike" cap="none">
                <a:solidFill>
                  <a:srgbClr val="FFFFFF"/>
                </a:solidFill>
                <a:latin typeface="Arial"/>
                <a:ea typeface="Arial"/>
                <a:cs typeface="Arial"/>
                <a:sym typeface="Arial"/>
              </a:rPr>
              <a:t>Presentation Video...</a:t>
            </a:r>
            <a:endParaRPr/>
          </a:p>
        </p:txBody>
      </p:sp>
      <p:sp>
        <p:nvSpPr>
          <p:cNvPr id="313" name="Google Shape;313;p12"/>
          <p:cNvSpPr txBox="1"/>
          <p:nvPr/>
        </p:nvSpPr>
        <p:spPr>
          <a:xfrm>
            <a:off x="3480181" y="3458004"/>
            <a:ext cx="12005187" cy="2677626"/>
          </a:xfrm>
          <a:prstGeom prst="rect">
            <a:avLst/>
          </a:prstGeom>
          <a:noFill/>
          <a:ln>
            <a:noFill/>
          </a:ln>
        </p:spPr>
        <p:txBody>
          <a:bodyPr spcFirstLastPara="1" wrap="square" lIns="91425" tIns="91425" rIns="91425" bIns="91425" anchor="t" anchorCtr="0">
            <a:spAutoFit/>
          </a:bodyPr>
          <a:lstStyle/>
          <a:p>
            <a:r>
              <a:rPr lang="en-US" sz="5400" u="sng" dirty="0">
                <a:solidFill>
                  <a:srgbClr val="0563C1"/>
                </a:solidFill>
                <a:hlinkClick r:id="rId3"/>
              </a:rPr>
              <a:t>https://drive.google.com/file/d/1Ws44X9cS4hBiXbP0O4oVgGcgZFXy_fbF/view?usp=drivesdk</a:t>
            </a:r>
            <a:endParaRPr lang="en-US" sz="5400" u="sng" dirty="0">
              <a:solidFill>
                <a:srgbClr val="0563C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30733"/>
        </a:solidFill>
        <a:effectLst/>
      </p:bgPr>
    </p:bg>
    <p:spTree>
      <p:nvGrpSpPr>
        <p:cNvPr id="1" name="Shape 317"/>
        <p:cNvGrpSpPr/>
        <p:nvPr/>
      </p:nvGrpSpPr>
      <p:grpSpPr>
        <a:xfrm>
          <a:off x="0" y="0"/>
          <a:ext cx="0" cy="0"/>
          <a:chOff x="0" y="0"/>
          <a:chExt cx="0" cy="0"/>
        </a:xfrm>
      </p:grpSpPr>
      <p:sp>
        <p:nvSpPr>
          <p:cNvPr id="318" name="Google Shape;318;p13"/>
          <p:cNvSpPr txBox="1"/>
          <p:nvPr/>
        </p:nvSpPr>
        <p:spPr>
          <a:xfrm>
            <a:off x="4028300" y="3286300"/>
            <a:ext cx="9631800" cy="1416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9200" b="1" i="0" u="none" strike="noStrike" cap="none">
                <a:solidFill>
                  <a:srgbClr val="FFFFFF"/>
                </a:solidFill>
                <a:latin typeface="Bricolage Grotesque"/>
                <a:ea typeface="Bricolage Grotesque"/>
                <a:cs typeface="Bricolage Grotesque"/>
                <a:sym typeface="Bricolage Grotesque"/>
              </a:rPr>
              <a:t>Q n 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30733"/>
        </a:solidFill>
        <a:effectLst/>
      </p:bgPr>
    </p:bg>
    <p:spTree>
      <p:nvGrpSpPr>
        <p:cNvPr id="1" name="Shape 322"/>
        <p:cNvGrpSpPr/>
        <p:nvPr/>
      </p:nvGrpSpPr>
      <p:grpSpPr>
        <a:xfrm>
          <a:off x="0" y="0"/>
          <a:ext cx="0" cy="0"/>
          <a:chOff x="0" y="0"/>
          <a:chExt cx="0" cy="0"/>
        </a:xfrm>
      </p:grpSpPr>
      <p:sp>
        <p:nvSpPr>
          <p:cNvPr id="323" name="Google Shape;323;p14"/>
          <p:cNvSpPr/>
          <p:nvPr/>
        </p:nvSpPr>
        <p:spPr>
          <a:xfrm>
            <a:off x="9296400" y="-103861"/>
            <a:ext cx="9198063" cy="10494722"/>
          </a:xfrm>
          <a:custGeom>
            <a:avLst/>
            <a:gdLst/>
            <a:ahLst/>
            <a:cxnLst/>
            <a:rect l="l" t="t" r="r" b="b"/>
            <a:pathLst>
              <a:path w="1425021" h="1625907" extrusionOk="0">
                <a:moveTo>
                  <a:pt x="0" y="0"/>
                </a:moveTo>
                <a:lnTo>
                  <a:pt x="1425021" y="0"/>
                </a:lnTo>
                <a:lnTo>
                  <a:pt x="1425021" y="1625907"/>
                </a:lnTo>
                <a:lnTo>
                  <a:pt x="0" y="1625907"/>
                </a:lnTo>
                <a:close/>
              </a:path>
            </a:pathLst>
          </a:custGeom>
          <a:blipFill rotWithShape="1">
            <a:blip r:embed="rId3">
              <a:alphaModFix/>
            </a:blip>
            <a:stretch>
              <a:fillRect t="-153" b="-153"/>
            </a:stretch>
          </a:blipFill>
          <a:ln w="19050" cap="sq" cmpd="sng">
            <a:solidFill>
              <a:srgbClr val="FFFFFF"/>
            </a:solidFill>
            <a:prstDash val="solid"/>
            <a:miter lim="8000"/>
            <a:headEnd type="none" w="sm" len="sm"/>
            <a:tailEnd type="none" w="sm" len="sm"/>
          </a:ln>
        </p:spPr>
      </p:sp>
      <p:sp>
        <p:nvSpPr>
          <p:cNvPr id="324" name="Google Shape;324;p14"/>
          <p:cNvSpPr txBox="1"/>
          <p:nvPr/>
        </p:nvSpPr>
        <p:spPr>
          <a:xfrm>
            <a:off x="6361866" y="3825567"/>
            <a:ext cx="8662833" cy="1047350"/>
          </a:xfrm>
          <a:prstGeom prst="rect">
            <a:avLst/>
          </a:prstGeom>
          <a:noFill/>
          <a:ln>
            <a:noFill/>
          </a:ln>
        </p:spPr>
        <p:txBody>
          <a:bodyPr spcFirstLastPara="1" wrap="square" lIns="0" tIns="0" rIns="0" bIns="0" anchor="t" anchorCtr="0">
            <a:spAutoFit/>
          </a:bodyPr>
          <a:lstStyle/>
          <a:p>
            <a:pPr marL="0" marR="0" lvl="0" indent="0" algn="l" rtl="0">
              <a:lnSpc>
                <a:spcPct val="100012"/>
              </a:lnSpc>
              <a:spcBef>
                <a:spcPts val="0"/>
              </a:spcBef>
              <a:spcAft>
                <a:spcPts val="0"/>
              </a:spcAft>
              <a:buNone/>
            </a:pPr>
            <a:r>
              <a:rPr lang="en-US" sz="7858" b="0" i="0" u="none" strike="noStrike" cap="none">
                <a:solidFill>
                  <a:srgbClr val="FFFFFF"/>
                </a:solidFill>
                <a:latin typeface="Arial"/>
                <a:ea typeface="Arial"/>
                <a:cs typeface="Arial"/>
                <a:sym typeface="Arial"/>
              </a:rPr>
              <a:t>Thank You </a:t>
            </a:r>
            <a:endParaRPr/>
          </a:p>
        </p:txBody>
      </p:sp>
      <p:grpSp>
        <p:nvGrpSpPr>
          <p:cNvPr id="325" name="Google Shape;325;p14"/>
          <p:cNvGrpSpPr/>
          <p:nvPr/>
        </p:nvGrpSpPr>
        <p:grpSpPr>
          <a:xfrm rot="10800000">
            <a:off x="7289918" y="6934200"/>
            <a:ext cx="3479615" cy="4601348"/>
            <a:chOff x="-101668" y="-102347"/>
            <a:chExt cx="4639486" cy="6135131"/>
          </a:xfrm>
        </p:grpSpPr>
        <p:grpSp>
          <p:nvGrpSpPr>
            <p:cNvPr id="326" name="Google Shape;326;p14"/>
            <p:cNvGrpSpPr/>
            <p:nvPr/>
          </p:nvGrpSpPr>
          <p:grpSpPr>
            <a:xfrm rot="-2700000">
              <a:off x="-103522" y="2896431"/>
              <a:ext cx="4441804" cy="1834612"/>
              <a:chOff x="0" y="-28575"/>
              <a:chExt cx="882773" cy="364614"/>
            </a:xfrm>
          </p:grpSpPr>
          <p:sp>
            <p:nvSpPr>
              <p:cNvPr id="327" name="Google Shape;327;p14"/>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cmpd="sng">
                <a:solidFill>
                  <a:srgbClr val="2BCA8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4"/>
              <p:cNvSpPr txBox="1"/>
              <p:nvPr/>
            </p:nvSpPr>
            <p:spPr>
              <a:xfrm>
                <a:off x="0" y="-28575"/>
                <a:ext cx="882773" cy="364614"/>
              </a:xfrm>
              <a:prstGeom prst="rect">
                <a:avLst/>
              </a:prstGeom>
              <a:noFill/>
              <a:ln>
                <a:noFill/>
              </a:ln>
            </p:spPr>
            <p:txBody>
              <a:bodyPr spcFirstLastPara="1" wrap="square" lIns="152525" tIns="152525" rIns="152525" bIns="152525" anchor="ctr" anchorCtr="0">
                <a:noAutofit/>
              </a:bodyPr>
              <a:lstStyle/>
              <a:p>
                <a:pPr marL="0" marR="0" lvl="0" indent="0" algn="ctr" rtl="0">
                  <a:lnSpc>
                    <a:spcPct val="1307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9" name="Google Shape;329;p14"/>
            <p:cNvGrpSpPr/>
            <p:nvPr/>
          </p:nvGrpSpPr>
          <p:grpSpPr>
            <a:xfrm rot="-2700000">
              <a:off x="68205" y="1208093"/>
              <a:ext cx="4471480" cy="1846868"/>
              <a:chOff x="0" y="-28575"/>
              <a:chExt cx="882773" cy="364614"/>
            </a:xfrm>
          </p:grpSpPr>
          <p:sp>
            <p:nvSpPr>
              <p:cNvPr id="330" name="Google Shape;330;p14"/>
              <p:cNvSpPr/>
              <p:nvPr/>
            </p:nvSpPr>
            <p:spPr>
              <a:xfrm>
                <a:off x="0" y="0"/>
                <a:ext cx="882773" cy="336039"/>
              </a:xfrm>
              <a:custGeom>
                <a:avLst/>
                <a:gdLst/>
                <a:ahLst/>
                <a:cxnLst/>
                <a:rect l="l" t="t" r="r" b="b"/>
                <a:pathLst>
                  <a:path w="882773" h="336039" extrusionOk="0">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535E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4"/>
              <p:cNvSpPr txBox="1"/>
              <p:nvPr/>
            </p:nvSpPr>
            <p:spPr>
              <a:xfrm>
                <a:off x="0" y="-28575"/>
                <a:ext cx="882773" cy="364614"/>
              </a:xfrm>
              <a:prstGeom prst="rect">
                <a:avLst/>
              </a:prstGeom>
              <a:noFill/>
              <a:ln>
                <a:noFill/>
              </a:ln>
            </p:spPr>
            <p:txBody>
              <a:bodyPr spcFirstLastPara="1" wrap="square" lIns="55700" tIns="55700" rIns="55700" bIns="55700" anchor="ctr" anchorCtr="0">
                <a:noAutofit/>
              </a:bodyPr>
              <a:lstStyle/>
              <a:p>
                <a:pPr marL="0" marR="0" lvl="0" indent="0" algn="ctr" rtl="0">
                  <a:lnSpc>
                    <a:spcPct val="11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714</Words>
  <Application>Microsoft Office PowerPoint</Application>
  <PresentationFormat>Custom</PresentationFormat>
  <Paragraphs>98</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Times</vt:lpstr>
      <vt:lpstr>Bricolage Grotesque</vt:lpstr>
      <vt:lpstr>Calibri</vt:lpstr>
      <vt:lpstr>Bricolage Grotesque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pudhicheri veekshitha</dc:creator>
  <cp:lastModifiedBy>TULSHI</cp:lastModifiedBy>
  <cp:revision>33</cp:revision>
  <dcterms:created xsi:type="dcterms:W3CDTF">2006-08-16T00:00:00Z</dcterms:created>
  <dcterms:modified xsi:type="dcterms:W3CDTF">2026-09-21T02:32:48Z</dcterms:modified>
</cp:coreProperties>
</file>