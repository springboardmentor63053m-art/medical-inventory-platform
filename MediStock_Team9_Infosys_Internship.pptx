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FrsO2gKZqW8bMVC8o-YYmKaxkU_PhpaD/view?usp=sharing" TargetMode="External"/><Relationship Id="rId2" Type="http://schemas.openxmlformats.org/officeDocument/2006/relationships/hyperlink" Target="https://medistock-production-frontend.onrender.com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02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1CFE1"/>
                </a:solidFill>
                <a:latin typeface="Aptos"/>
              </a:rPr>
              <a:t>INFOSYS SPRINGBOARD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5669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CCC6E8"/>
                </a:solidFill>
                <a:latin typeface="Aptos Display"/>
              </a:rPr>
              <a:t>MediStock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965960"/>
            <a:ext cx="5577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4F6FC"/>
                </a:solidFill>
                <a:latin typeface="Aptos"/>
              </a:rPr>
              <a:t>Medical Inventory</a:t>
            </a:r>
            <a:br/>
            <a:r>
              <a:rPr sz="2500" b="1">
                <a:solidFill>
                  <a:srgbClr val="F4F6FC"/>
                </a:solidFill>
                <a:latin typeface="Aptos"/>
              </a:rPr>
              <a:t>Management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273552"/>
            <a:ext cx="1417320" cy="411480"/>
          </a:xfrm>
          <a:prstGeom prst="roundRect">
            <a:avLst/>
          </a:prstGeom>
          <a:solidFill>
            <a:srgbClr val="1CB8CA"/>
          </a:solidFill>
          <a:ln>
            <a:solidFill>
              <a:srgbClr val="1CB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328416"/>
            <a:ext cx="13258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1848"/>
                </a:solidFill>
                <a:latin typeface="Aptos"/>
              </a:rPr>
              <a:t>TEAM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6FC"/>
                </a:solidFill>
                <a:latin typeface="Aptos"/>
              </a:rPr>
              <a:t>Nalla Bhavitha  •  Vishnu Vardhan  •  Raj Kumar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26280"/>
            <a:ext cx="5303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ABED8"/>
                </a:solidFill>
                <a:latin typeface="Aptos"/>
              </a:rPr>
              <a:t>A secure, role-based platform for medicine inventory, procurement, sales, expiry monitoring, alerts and analytics.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70A61F-F015-2386-5002-12FD73160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677" y="565109"/>
            <a:ext cx="5864942" cy="58649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Project Understanding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ABED8"/>
                </a:solidFill>
                <a:latin typeface="Aptos"/>
              </a:rPr>
              <a:t>What MediStock is designed to solve — and how the platform addresses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F6FC"/>
                </a:solidFill>
                <a:latin typeface="Aptos"/>
              </a:rPr>
              <a:t>A centralized digital inventory platform for pharmacies, hospitals and healthcare organizations.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3520440" cy="3246120"/>
          </a:xfrm>
          <a:prstGeom prst="roundRect">
            <a:avLst/>
          </a:prstGeom>
          <a:solidFill>
            <a:srgbClr val="252B5E"/>
          </a:solidFill>
          <a:ln w="13970"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167128"/>
            <a:ext cx="33009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1CFE1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32888"/>
            <a:ext cx="31912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6FC"/>
                </a:solidFill>
                <a:latin typeface="Aptos"/>
              </a:rPr>
              <a:t>Single source of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27248"/>
            <a:ext cx="3063240" cy="2039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BABED8"/>
                </a:solidFill>
                <a:latin typeface="Aptos"/>
              </a:rPr>
              <a:t>Medicines, batches, stock, suppliers, purchases and sales are managed through connected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520440" cy="3246120"/>
          </a:xfrm>
          <a:prstGeom prst="roundRect">
            <a:avLst/>
          </a:prstGeom>
          <a:solidFill>
            <a:srgbClr val="252B5E"/>
          </a:solidFill>
          <a:ln w="13970"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2167128"/>
            <a:ext cx="33009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1CFE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532888"/>
            <a:ext cx="31912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6FC"/>
                </a:solidFill>
                <a:latin typeface="Aptos"/>
              </a:rPr>
              <a:t>Act before shortages or expiry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27248"/>
            <a:ext cx="3063240" cy="2039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BABED8"/>
                </a:solidFill>
                <a:latin typeface="Aptos"/>
              </a:rPr>
              <a:t>Low-stock, out-of-stock and expiry monitoring brings operational risks into focus.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057400"/>
            <a:ext cx="3520440" cy="3246120"/>
          </a:xfrm>
          <a:prstGeom prst="roundRect">
            <a:avLst/>
          </a:prstGeom>
          <a:solidFill>
            <a:srgbClr val="252B5E"/>
          </a:solidFill>
          <a:ln w="13970"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7" y="2167128"/>
            <a:ext cx="33009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1CFE1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532888"/>
            <a:ext cx="31912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6FC"/>
                </a:solidFill>
                <a:latin typeface="Aptos"/>
              </a:rPr>
              <a:t>Turn records into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127248"/>
            <a:ext cx="3063240" cy="2039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BABED8"/>
                </a:solidFill>
                <a:latin typeface="Aptos"/>
              </a:rPr>
              <a:t>Dashboards, analytics, notifications and exportable reports support day-to-day inventory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692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1CFE1"/>
                </a:solidFill>
                <a:latin typeface="Aptos"/>
              </a:rPr>
              <a:t>DESIGN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650992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6FC"/>
                </a:solidFill>
                <a:latin typeface="Aptos"/>
              </a:rPr>
              <a:t>Secure • Scalable • Maintainable • Production-deployable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ABED8"/>
                </a:solidFill>
                <a:latin typeface="Aptos"/>
              </a:rPr>
              <a:t>The operational gaps MediStock addresses.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1CFE1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417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CC6E8"/>
                </a:solidFill>
                <a:latin typeface="Aptos"/>
              </a:rPr>
              <a:t>Manual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20240"/>
            <a:ext cx="4663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6FC"/>
                </a:solidFill>
                <a:latin typeface="Aptos"/>
              </a:rPr>
              <a:t>Registers and disconnected spreadsheets make inventory updates slower and more error-prone.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173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1CFE1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417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CC6E8"/>
                </a:solidFill>
                <a:latin typeface="Aptos"/>
              </a:rPr>
              <a:t>Stock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920240"/>
            <a:ext cx="4663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6FC"/>
                </a:solidFill>
                <a:latin typeface="Aptos"/>
              </a:rPr>
              <a:t>Without timely visibility, low-stock and out-of-stock medicines can be missed.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1CFE1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576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CC6E8"/>
                </a:solidFill>
                <a:latin typeface="Aptos"/>
              </a:rPr>
              <a:t>Expiry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60520"/>
            <a:ext cx="4663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6FC"/>
                </a:solidFill>
                <a:latin typeface="Aptos"/>
              </a:rPr>
              <a:t>Batch-level expiry information needs continuous monitoring to reduce avoidable expiry losses.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65760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1CFE1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6576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CC6E8"/>
                </a:solidFill>
                <a:latin typeface="Aptos"/>
              </a:rPr>
              <a:t>Supplier Fragmentation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160520"/>
            <a:ext cx="4663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6FC"/>
                </a:solidFill>
                <a:latin typeface="Aptos"/>
              </a:rPr>
              <a:t>Supplier contacts, purchase history and order status are harder to coordinate when kept separately.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897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1CFE1"/>
                </a:solidFill>
                <a:latin typeface="Aptos"/>
              </a:rPr>
              <a:t>MediStock converts these disconnected activities into a connected, role-based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BABED8"/>
                </a:solidFill>
                <a:latin typeface="Aptos"/>
              </a:rPr>
              <a:t>Technology choices used in the implemented</a:t>
            </a:r>
            <a:r>
              <a:rPr lang="en-US" sz="1200" b="0" dirty="0">
                <a:solidFill>
                  <a:srgbClr val="BABED8"/>
                </a:solidFill>
                <a:latin typeface="Aptos"/>
              </a:rPr>
              <a:t> </a:t>
            </a:r>
            <a:r>
              <a:rPr lang="en-US" sz="1200" dirty="0">
                <a:solidFill>
                  <a:srgbClr val="BABED8"/>
                </a:solidFill>
                <a:latin typeface="Aptos"/>
              </a:rPr>
              <a:t>Medi stock </a:t>
            </a:r>
            <a:r>
              <a:rPr sz="1200" b="0" dirty="0">
                <a:solidFill>
                  <a:srgbClr val="BABED8"/>
                </a:solidFill>
                <a:latin typeface="Aptos"/>
              </a:rPr>
              <a:t>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2542032" cy="4251960"/>
          </a:xfrm>
          <a:prstGeom prst="roundRect">
            <a:avLst/>
          </a:prstGeom>
          <a:solidFill>
            <a:srgbClr val="252B5E"/>
          </a:solidFill>
          <a:ln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1CFE1"/>
                </a:solidFill>
                <a:latin typeface="Aptos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84832"/>
            <a:ext cx="2084831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F4F6FC"/>
                </a:solidFill>
                <a:latin typeface="Aptos"/>
              </a:rPr>
              <a:t>React  •  Vite</a:t>
            </a:r>
            <a:br/>
            <a:r>
              <a:rPr sz="1250" b="0">
                <a:solidFill>
                  <a:srgbClr val="F4F6FC"/>
                </a:solidFill>
                <a:latin typeface="Aptos"/>
              </a:rPr>
              <a:t>Tailwind CSS</a:t>
            </a:r>
            <a:br/>
            <a:r>
              <a:rPr sz="1250" b="0">
                <a:solidFill>
                  <a:srgbClr val="F4F6FC"/>
                </a:solidFill>
                <a:latin typeface="Aptos"/>
              </a:rPr>
              <a:t>React Router • Axios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371600"/>
            <a:ext cx="2542032" cy="4251960"/>
          </a:xfrm>
          <a:prstGeom prst="roundRect">
            <a:avLst/>
          </a:prstGeom>
          <a:solidFill>
            <a:srgbClr val="252B5E"/>
          </a:solidFill>
          <a:ln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93008" y="1554480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1CFE1"/>
                </a:solidFill>
                <a:latin typeface="Aptos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2084832"/>
            <a:ext cx="2084831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F4F6FC"/>
                </a:solidFill>
                <a:latin typeface="Aptos"/>
              </a:rPr>
              <a:t>Java 21</a:t>
            </a:r>
            <a:br/>
            <a:r>
              <a:rPr sz="1250" b="0">
                <a:solidFill>
                  <a:srgbClr val="F4F6FC"/>
                </a:solidFill>
                <a:latin typeface="Aptos"/>
              </a:rPr>
              <a:t>Spring Boot</a:t>
            </a:r>
            <a:br/>
            <a:r>
              <a:rPr sz="1250" b="0">
                <a:solidFill>
                  <a:srgbClr val="F4F6FC"/>
                </a:solidFill>
                <a:latin typeface="Aptos"/>
              </a:rPr>
              <a:t>Spring Data JPA</a:t>
            </a:r>
            <a:br/>
            <a:r>
              <a:rPr sz="1250" b="0">
                <a:solidFill>
                  <a:srgbClr val="F4F6FC"/>
                </a:solidFill>
                <a:latin typeface="Aptos"/>
              </a:rPr>
              <a:t>Hibernate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371600"/>
            <a:ext cx="2542032" cy="4251960"/>
          </a:xfrm>
          <a:prstGeom prst="roundRect">
            <a:avLst/>
          </a:prstGeom>
          <a:solidFill>
            <a:srgbClr val="252B5E"/>
          </a:solidFill>
          <a:ln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7376" y="1554480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1CFE1"/>
                </a:solidFill>
                <a:latin typeface="Aptos"/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084832"/>
            <a:ext cx="2084831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F4F6FC"/>
                </a:solidFill>
                <a:latin typeface="Aptos"/>
              </a:rPr>
              <a:t>PostgreSQL</a:t>
            </a:r>
            <a:br/>
            <a:r>
              <a:rPr sz="1250" b="0">
                <a:solidFill>
                  <a:srgbClr val="F4F6FC"/>
                </a:solidFill>
                <a:latin typeface="Aptos"/>
              </a:rPr>
              <a:t>JPA / Hibernate</a:t>
            </a:r>
            <a:br/>
            <a:r>
              <a:rPr sz="1250" b="0">
                <a:solidFill>
                  <a:srgbClr val="F4F6FC"/>
                </a:solidFill>
                <a:latin typeface="Aptos"/>
              </a:rPr>
              <a:t>Relational data model</a:t>
            </a:r>
            <a:br/>
            <a:r>
              <a:rPr sz="1250" b="0">
                <a:solidFill>
                  <a:srgbClr val="F4F6FC"/>
                </a:solidFill>
                <a:latin typeface="Aptos"/>
              </a:rPr>
              <a:t>Database scripts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44584" y="1371600"/>
            <a:ext cx="2542032" cy="4251960"/>
          </a:xfrm>
          <a:prstGeom prst="roundRect">
            <a:avLst/>
          </a:prstGeom>
          <a:solidFill>
            <a:srgbClr val="252B5E"/>
          </a:solidFill>
          <a:ln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81744" y="1554480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1CFE1"/>
                </a:solidFill>
                <a:latin typeface="Aptos"/>
              </a:rPr>
              <a:t>SECURITY &amp;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3184" y="2084832"/>
            <a:ext cx="2084831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dirty="0">
                <a:solidFill>
                  <a:srgbClr val="F4F6FC"/>
                </a:solidFill>
                <a:latin typeface="Aptos"/>
              </a:rPr>
              <a:t>Spring Security</a:t>
            </a:r>
            <a:br>
              <a:rPr dirty="0"/>
            </a:br>
            <a:r>
              <a:rPr sz="1250" b="0" dirty="0">
                <a:solidFill>
                  <a:srgbClr val="F4F6FC"/>
                </a:solidFill>
                <a:latin typeface="Aptos"/>
              </a:rPr>
              <a:t>JWT •</a:t>
            </a:r>
            <a:r>
              <a:rPr lang="en-US" sz="1250" b="0" dirty="0">
                <a:solidFill>
                  <a:srgbClr val="F4F6FC"/>
                </a:solidFill>
                <a:latin typeface="Aptos"/>
              </a:rPr>
              <a:t>BC</a:t>
            </a:r>
            <a:r>
              <a:rPr sz="1250" b="0" dirty="0">
                <a:solidFill>
                  <a:srgbClr val="F4F6FC"/>
                </a:solidFill>
                <a:latin typeface="Aptos"/>
              </a:rPr>
              <a:t>rypt</a:t>
            </a:r>
            <a:br>
              <a:rPr dirty="0"/>
            </a:br>
            <a:r>
              <a:rPr sz="1250" b="0" dirty="0">
                <a:solidFill>
                  <a:srgbClr val="F4F6FC"/>
                </a:solidFill>
                <a:latin typeface="Aptos"/>
              </a:rPr>
              <a:t>Maven • Postman</a:t>
            </a:r>
            <a:br>
              <a:rPr dirty="0"/>
            </a:br>
            <a:r>
              <a:rPr sz="1250" b="0" dirty="0">
                <a:solidFill>
                  <a:srgbClr val="F4F6FC"/>
                </a:solidFill>
                <a:latin typeface="Aptos"/>
              </a:rPr>
              <a:t>Git •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2487168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6FC"/>
                </a:solidFill>
                <a:latin typeface="Aptos"/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1CFE1"/>
                </a:solidFill>
                <a:latin typeface="Aptos"/>
              </a:rPr>
              <a:t>Application flow: React UI  →  REST APIs  →  Spring Boot services  →  JPA/Hibernate  →  PostgreSQL</a:t>
            </a:r>
          </a:p>
        </p:txBody>
      </p:sp>
      <p:pic>
        <p:nvPicPr>
          <p:cNvPr id="37" name="Picture 36" descr="File:React-icon.svg - Wikimedia Commons">
            <a:extLst>
              <a:ext uri="{FF2B5EF4-FFF2-40B4-BE49-F238E27FC236}">
                <a16:creationId xmlns:a16="http://schemas.microsoft.com/office/drawing/2014/main" id="{1A14A54B-572A-0425-5BFA-B8D5E8230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963" y="3388614"/>
            <a:ext cx="1338484" cy="1031748"/>
          </a:xfrm>
          <a:prstGeom prst="rect">
            <a:avLst/>
          </a:prstGeom>
        </p:spPr>
      </p:pic>
      <p:pic>
        <p:nvPicPr>
          <p:cNvPr id="38" name="Picture 37" descr="Building Robust Backend Systems with Java Spring-Boot – Step by Step Software">
            <a:extLst>
              <a:ext uri="{FF2B5EF4-FFF2-40B4-BE49-F238E27FC236}">
                <a16:creationId xmlns:a16="http://schemas.microsoft.com/office/drawing/2014/main" id="{E7A9E546-9661-BC71-8981-54E27DAB9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073" y="3284220"/>
            <a:ext cx="1465317" cy="1131379"/>
          </a:xfrm>
          <a:prstGeom prst="rect">
            <a:avLst/>
          </a:prstGeom>
        </p:spPr>
      </p:pic>
      <p:pic>
        <p:nvPicPr>
          <p:cNvPr id="39" name="Picture 38" descr="PostgreSQL Reviews 2026: Details, Pricing, &amp; Features | G2">
            <a:extLst>
              <a:ext uri="{FF2B5EF4-FFF2-40B4-BE49-F238E27FC236}">
                <a16:creationId xmlns:a16="http://schemas.microsoft.com/office/drawing/2014/main" id="{8E878C25-F8B9-35C3-4953-6E91CB84B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336" y="3380698"/>
            <a:ext cx="1100408" cy="1227878"/>
          </a:xfrm>
          <a:prstGeom prst="rect">
            <a:avLst/>
          </a:prstGeom>
        </p:spPr>
      </p:pic>
      <p:pic>
        <p:nvPicPr>
          <p:cNvPr id="40" name="Picture 39" descr="Simplifying JWT based Spring Security (includes Github repo)">
            <a:extLst>
              <a:ext uri="{FF2B5EF4-FFF2-40B4-BE49-F238E27FC236}">
                <a16:creationId xmlns:a16="http://schemas.microsoft.com/office/drawing/2014/main" id="{EE83A197-887F-AB99-EEAF-244550019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9006" y="3493579"/>
            <a:ext cx="1631266" cy="922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Core Feature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ABED8"/>
                </a:solidFill>
                <a:latin typeface="Aptos"/>
              </a:rPr>
              <a:t>Functional modules implemented across the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3493008" cy="1874519"/>
          </a:xfrm>
          <a:prstGeom prst="roundRect">
            <a:avLst/>
          </a:prstGeom>
          <a:solidFill>
            <a:srgbClr val="252B5E"/>
          </a:solidFill>
          <a:ln w="13970"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435607"/>
            <a:ext cx="3273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1CFE1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801368"/>
            <a:ext cx="3163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6FC"/>
                </a:solidFill>
                <a:latin typeface="Aptos"/>
              </a:rPr>
              <a:t>Inventory &amp; Batches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95728"/>
            <a:ext cx="3035808" cy="6675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dirty="0">
                <a:solidFill>
                  <a:srgbClr val="BABED8"/>
                </a:solidFill>
                <a:latin typeface="Aptos"/>
              </a:rPr>
              <a:t>Medicine CRUD, categories, batch control, quantity, pricing, supplier and expiry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493008" cy="1874519"/>
          </a:xfrm>
          <a:prstGeom prst="roundRect">
            <a:avLst/>
          </a:prstGeom>
          <a:solidFill>
            <a:srgbClr val="252B5E"/>
          </a:solidFill>
          <a:ln w="13970"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07408" y="1435607"/>
            <a:ext cx="3273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1CFE1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801368"/>
            <a:ext cx="3163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6FC"/>
                </a:solidFill>
                <a:latin typeface="Aptos"/>
              </a:rPr>
              <a:t>Stock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95728"/>
            <a:ext cx="3035808" cy="6675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BABED8"/>
                </a:solidFill>
                <a:latin typeface="Aptos"/>
              </a:rPr>
              <a:t>Stock in/out, adjustments, stock history, low-stock and out-of-stock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493008" cy="1874519"/>
          </a:xfrm>
          <a:prstGeom prst="roundRect">
            <a:avLst/>
          </a:prstGeom>
          <a:solidFill>
            <a:srgbClr val="252B5E"/>
          </a:solidFill>
          <a:ln w="13970"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3607" y="1435607"/>
            <a:ext cx="3273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1CFE1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801368"/>
            <a:ext cx="3163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6FC"/>
                </a:solidFill>
                <a:latin typeface="Aptos"/>
              </a:rPr>
              <a:t>Expiry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95728"/>
            <a:ext cx="3035808" cy="6675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BABED8"/>
                </a:solidFill>
                <a:latin typeface="Aptos"/>
              </a:rPr>
              <a:t>Batch-level expiry status and dedicated tracking for expiring and expired stock.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474720"/>
            <a:ext cx="3493008" cy="1874519"/>
          </a:xfrm>
          <a:prstGeom prst="roundRect">
            <a:avLst/>
          </a:prstGeom>
          <a:solidFill>
            <a:srgbClr val="252B5E"/>
          </a:solidFill>
          <a:ln w="13970"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" y="3584448"/>
            <a:ext cx="3273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1CFE1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950208"/>
            <a:ext cx="3163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6FC"/>
                </a:solidFill>
                <a:latin typeface="Aptos"/>
              </a:rPr>
              <a:t>Procurement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44568"/>
            <a:ext cx="3035808" cy="6675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BABED8"/>
                </a:solidFill>
                <a:latin typeface="Aptos"/>
              </a:rPr>
              <a:t>Supplier directory, purchase orders, shipment tracking and supplier catalogue.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474720"/>
            <a:ext cx="3493008" cy="1874519"/>
          </a:xfrm>
          <a:prstGeom prst="roundRect">
            <a:avLst/>
          </a:prstGeom>
          <a:solidFill>
            <a:srgbClr val="252B5E"/>
          </a:solidFill>
          <a:ln w="13970"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8" y="3584448"/>
            <a:ext cx="3273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1CFE1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3950208"/>
            <a:ext cx="3163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6FC"/>
                </a:solidFill>
                <a:latin typeface="Aptos"/>
              </a:rPr>
              <a:t>Sales &amp; Prescriptions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44568"/>
            <a:ext cx="3035808" cy="6675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BABED8"/>
                </a:solidFill>
                <a:latin typeface="Aptos"/>
              </a:rPr>
              <a:t>Customer sales, prescription workflows, automatic stock deduction and billing.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3474720"/>
            <a:ext cx="3493008" cy="1874519"/>
          </a:xfrm>
          <a:prstGeom prst="roundRect">
            <a:avLst/>
          </a:prstGeom>
          <a:solidFill>
            <a:srgbClr val="252B5E"/>
          </a:solidFill>
          <a:ln w="13970"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93607" y="3584448"/>
            <a:ext cx="3273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1CFE1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3950208"/>
            <a:ext cx="3163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4F6FC"/>
                </a:solidFill>
                <a:latin typeface="Aptos"/>
              </a:rPr>
              <a:t>Notifications &amp;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544568"/>
            <a:ext cx="3035808" cy="6675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BABED8"/>
                </a:solidFill>
                <a:latin typeface="Aptos"/>
              </a:rPr>
              <a:t>Role-aware alerts, analytics and exportable inventory, purchase and expiry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ABED8"/>
                </a:solidFill>
                <a:latin typeface="Aptos"/>
              </a:rPr>
              <a:t>Layered application design separating UI, security, business services and persistence.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0" y="1097280"/>
            <a:ext cx="7132320" cy="5303520"/>
          </a:xfrm>
          <a:prstGeom prst="roundRect">
            <a:avLst/>
          </a:prstGeom>
          <a:solidFill>
            <a:srgbClr val="1C2250"/>
          </a:solidFill>
          <a:ln>
            <a:solidFill>
              <a:srgbClr val="4A5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152144"/>
            <a:ext cx="7022592" cy="5193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5087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1CFE1"/>
                </a:solidFill>
                <a:latin typeface="Aptos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645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6FC"/>
                </a:solidFill>
                <a:latin typeface="Aptos"/>
              </a:rPr>
              <a:t>React + Vite</a:t>
            </a:r>
            <a:br/>
            <a:r>
              <a:rPr sz="1300" b="1">
                <a:solidFill>
                  <a:srgbClr val="F4F6FC"/>
                </a:solidFill>
                <a:latin typeface="Aptos"/>
              </a:rPr>
              <a:t>Responsive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1CFE1"/>
                </a:solidFill>
                <a:latin typeface="Aptos"/>
              </a:rPr>
              <a:t>API /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645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6FC"/>
                </a:solidFill>
                <a:latin typeface="Aptos"/>
              </a:rPr>
              <a:t>REST + JWT</a:t>
            </a:r>
            <a:br/>
            <a:r>
              <a:rPr sz="1300" b="1">
                <a:solidFill>
                  <a:srgbClr val="F4F6FC"/>
                </a:solidFill>
                <a:latin typeface="Aptos"/>
              </a:rPr>
              <a:t>RBAC + CORS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5087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1CFE1"/>
                </a:solidFill>
                <a:latin typeface="Aptos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9202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6FC"/>
                </a:solidFill>
                <a:latin typeface="Aptos"/>
              </a:rPr>
              <a:t>PostgreSQL</a:t>
            </a:r>
            <a:br/>
            <a:r>
              <a:rPr sz="1300" b="1">
                <a:solidFill>
                  <a:srgbClr val="F4F6FC"/>
                </a:solidFill>
                <a:latin typeface="Aptos"/>
              </a:rPr>
              <a:t>JPA / Hibernate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31089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1CFE1"/>
                </a:solidFill>
                <a:latin typeface="Aptos"/>
              </a:rPr>
              <a:t>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35204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6FC"/>
                </a:solidFill>
                <a:latin typeface="Aptos"/>
              </a:rPr>
              <a:t>Inventory • Sales</a:t>
            </a:r>
            <a:br/>
            <a:r>
              <a:rPr sz="1300" b="1">
                <a:solidFill>
                  <a:srgbClr val="F4F6FC"/>
                </a:solidFill>
                <a:latin typeface="Aptos"/>
              </a:rPr>
              <a:t>Procurement • Analytics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3DE7DE-B1A4-CAA7-28A9-363C2F627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5651"/>
            <a:ext cx="12368452" cy="69778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ABED8"/>
                </a:solidFill>
                <a:latin typeface="Aptos"/>
              </a:rPr>
              <a:t>Relational model supporting inventory, procurement, operations and access control.</a:t>
            </a:r>
          </a:p>
        </p:txBody>
      </p:sp>
      <p:pic>
        <p:nvPicPr>
          <p:cNvPr id="5" name="Picture 4" descr="s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42" y="1474550"/>
            <a:ext cx="9510940" cy="4917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ABED8"/>
                </a:solidFill>
                <a:latin typeface="Aptos"/>
              </a:rPr>
              <a:t>Key relationships: Users/Roles • Medicines/Categories/Batches • Suppliers • Purchase Orders • Stock Logs •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Core Inventory Workflow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C25433A-09F2-24B2-6565-27699DE8F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79" y="941832"/>
            <a:ext cx="11390842" cy="54196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Secure Authentication &amp; Role-Based Access</a:t>
            </a:r>
          </a:p>
        </p:txBody>
      </p:sp>
      <p:pic>
        <p:nvPicPr>
          <p:cNvPr id="4" name="Picture 3" descr="s9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792" y="1681316"/>
            <a:ext cx="6299703" cy="45731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8120" y="141732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CCC6E8"/>
                </a:solidFill>
                <a:latin typeface="Aptos"/>
              </a:rPr>
              <a:t>Security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965960"/>
            <a:ext cx="34290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Login-based access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JWT for protected API requests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BCrypt password protection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Role-based permissions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Implemented workflows for Admin, Pharmacist, Staff and Supplier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5166360"/>
            <a:ext cx="3246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CFE1"/>
                </a:solidFill>
                <a:latin typeface="Aptos"/>
              </a:rPr>
              <a:t>Security is applied at the API/application layer rather than relying only on the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Inventory &amp; Stock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ABED8"/>
                </a:solidFill>
                <a:latin typeface="Aptos"/>
              </a:rPr>
              <a:t>Operational stock movement with batch and quantity context.</a:t>
            </a:r>
          </a:p>
        </p:txBody>
      </p:sp>
      <p:pic>
        <p:nvPicPr>
          <p:cNvPr id="5" name="Picture 4" descr="s10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981" y="1783080"/>
            <a:ext cx="6139750" cy="4398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4173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CCC6E8"/>
                </a:solidFill>
                <a:latin typeface="Aptos"/>
              </a:rPr>
              <a:t>Implemented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965960"/>
            <a:ext cx="33375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Stock IN / OUT operations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Quantity and batch information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Stock adjustments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Inventory status monitoring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Stock history / audit trail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Backend persistence through JPA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Expiry, Low-Stock &amp; Out-of-Stock Monitoring</a:t>
            </a:r>
          </a:p>
        </p:txBody>
      </p:sp>
      <p:pic>
        <p:nvPicPr>
          <p:cNvPr id="4" name="Picture 3" descr="s11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" y="1412748"/>
            <a:ext cx="3410712" cy="2221991"/>
          </a:xfrm>
          <a:prstGeom prst="rect">
            <a:avLst/>
          </a:prstGeom>
        </p:spPr>
      </p:pic>
      <p:pic>
        <p:nvPicPr>
          <p:cNvPr id="6" name="Picture 5" descr="s11_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1380743"/>
            <a:ext cx="3410712" cy="2221991"/>
          </a:xfrm>
          <a:prstGeom prst="rect">
            <a:avLst/>
          </a:prstGeom>
        </p:spPr>
      </p:pic>
      <p:pic>
        <p:nvPicPr>
          <p:cNvPr id="8" name="Picture 7" descr="s11_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380742"/>
            <a:ext cx="3410712" cy="22219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8455" y="3896843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1CFE1"/>
                </a:solidFill>
                <a:latin typeface="Aptos"/>
              </a:rPr>
              <a:t>EXPIRY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822191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1CFE1"/>
                </a:solidFill>
                <a:latin typeface="Aptos"/>
              </a:rPr>
              <a:t>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822191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1CFE1"/>
                </a:solidFill>
                <a:latin typeface="Aptos"/>
              </a:rPr>
              <a:t>OUT-OF-STOCK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709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4F6FC"/>
                </a:solidFill>
                <a:latin typeface="Aptos"/>
              </a:rPr>
              <a:t>Dedicated screens make inventory risks visible instead of hiding them inside raw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349240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ABED8"/>
                </a:solidFill>
                <a:latin typeface="Aptos"/>
              </a:rPr>
              <a:t>Expiry status • low-stock alerts • critical stock visibility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Supplier Management &amp; Procurement</a:t>
            </a:r>
          </a:p>
        </p:txBody>
      </p:sp>
      <p:pic>
        <p:nvPicPr>
          <p:cNvPr id="4" name="Picture 3" descr="s12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325290"/>
            <a:ext cx="5239512" cy="4097692"/>
          </a:xfrm>
          <a:prstGeom prst="rect">
            <a:avLst/>
          </a:prstGeom>
        </p:spPr>
      </p:pic>
      <p:pic>
        <p:nvPicPr>
          <p:cNvPr id="6" name="Picture 5" descr="s12_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310050"/>
            <a:ext cx="5239512" cy="40976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4440" y="580644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CC6E8"/>
                </a:solidFill>
                <a:latin typeface="Aptos"/>
              </a:rPr>
              <a:t>SUPPLIER CATALOGUE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580644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CC6E8"/>
                </a:solidFill>
                <a:latin typeface="Aptos"/>
              </a:rPr>
              <a:t>SUPPLIER FULFILMENT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Prescription Management, Sales &amp; Billing</a:t>
            </a:r>
          </a:p>
        </p:txBody>
      </p:sp>
      <p:pic>
        <p:nvPicPr>
          <p:cNvPr id="4" name="Picture 3" descr="s13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7123"/>
            <a:ext cx="5239512" cy="3601458"/>
          </a:xfrm>
          <a:prstGeom prst="rect">
            <a:avLst/>
          </a:prstGeom>
        </p:spPr>
      </p:pic>
      <p:pic>
        <p:nvPicPr>
          <p:cNvPr id="6" name="Picture 5" descr="s13_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912" y="1587123"/>
            <a:ext cx="5495688" cy="36014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83387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CC6E8"/>
                </a:solidFill>
                <a:latin typeface="Aptos"/>
              </a:rPr>
              <a:t>PRESCRIPTION REVIEW &amp;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58338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CCC6E8"/>
                </a:solidFill>
                <a:latin typeface="Aptos"/>
              </a:rPr>
              <a:t>BILLS &amp; INVOICE HISTORY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Medicine Management &amp; Traceability</a:t>
            </a:r>
          </a:p>
        </p:txBody>
      </p:sp>
      <p:pic>
        <p:nvPicPr>
          <p:cNvPr id="4" name="Picture 3" descr="s14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925" y="1417320"/>
            <a:ext cx="6793992" cy="4919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8120" y="1417320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CC6E8"/>
                </a:solidFill>
                <a:latin typeface="Aptos"/>
              </a:rPr>
              <a:t>Medicine inspection provides an operational view of: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24028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Medicine identity and category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Manufacturer / supplier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Batch number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Purchase and selling price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4F6FC"/>
                </a:solidFill>
                <a:latin typeface="Aptos"/>
              </a:rPr>
              <a:t>• Current stock and expiry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51663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1CFE1"/>
                </a:solidFill>
                <a:latin typeface="Aptos"/>
              </a:rPr>
              <a:t>Traceability connects medicine master data with day-to-day inventory operations.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CCC6E8"/>
                </a:solidFill>
                <a:latin typeface="Aptos Display"/>
              </a:rPr>
              <a:t>Deployment &amp;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ABED8"/>
                </a:solidFill>
                <a:latin typeface="Aptos"/>
              </a:rPr>
              <a:t>The project is deployed and can be demonstrated through the live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1CFE1"/>
                </a:solidFill>
                <a:latin typeface="Aptos"/>
              </a:rPr>
              <a:t>LIVE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CCC6E8"/>
                </a:solidFill>
                <a:latin typeface="Aptos"/>
              </a:rPr>
              <a:t>MediStock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dirty="0">
                <a:solidFill>
                  <a:srgbClr val="31CFE1"/>
                </a:solidFill>
                <a:latin typeface="Aptos"/>
                <a:hlinkClick r:id="rId2"/>
              </a:rPr>
              <a:t>Open Deployed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ABED8"/>
                </a:solidFill>
                <a:latin typeface="Aptos"/>
              </a:rPr>
              <a:t>https://medistock-production-frontend.onrender.com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41732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1CFE1"/>
                </a:solidFill>
                <a:latin typeface="Aptos"/>
              </a:rPr>
              <a:t>LIVE DEMO RECORDING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92024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CCC6E8"/>
                </a:solidFill>
                <a:latin typeface="Aptos"/>
              </a:rPr>
              <a:t>Project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3357" y="2606040"/>
            <a:ext cx="285552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dirty="0">
                <a:solidFill>
                  <a:srgbClr val="31CFE1"/>
                </a:solidFill>
                <a:latin typeface="Aptos"/>
                <a:hlinkClick r:id="rId3"/>
              </a:rPr>
              <a:t>Open Live Demo Recording</a:t>
            </a:r>
            <a:endParaRPr sz="1700" b="1" dirty="0">
              <a:solidFill>
                <a:srgbClr val="31CFE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0" y="3246120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BABED8"/>
                </a:solidFill>
                <a:latin typeface="Aptos"/>
              </a:rPr>
              <a:t>Google Drive recording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F6FC"/>
                </a:solidFill>
                <a:latin typeface="Aptos"/>
              </a:rPr>
              <a:t>Login  →  Dashboard  →  Inventory  →  Alerts  →  Procurement  →  Prescriptions / Billing  →  Profile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234440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CCC6E8"/>
                </a:solidFill>
                <a:latin typeface="Aptos Display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0">
                <a:solidFill>
                  <a:srgbClr val="31CFE1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703320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6FC"/>
                </a:solidFill>
                <a:latin typeface="Aptos"/>
              </a:rPr>
              <a:t>MediStock — Medical Inventory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2519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ABED8"/>
                </a:solidFill>
                <a:latin typeface="Aptos"/>
              </a:rPr>
              <a:t>Team 9  •  Infosys Springboard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736592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6FC"/>
                </a:solidFill>
                <a:latin typeface="Aptos"/>
              </a:rPr>
              <a:t>Nalla Bhavitha  •  Vishnu Vardhan  •  Raj Kumar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782</Words>
  <Application>Microsoft Office PowerPoint</Application>
  <PresentationFormat>Widescreen</PresentationFormat>
  <Paragraphs>134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Jinkalkar Ashwini</cp:lastModifiedBy>
  <cp:revision>4</cp:revision>
  <dcterms:created xsi:type="dcterms:W3CDTF">2013-01-27T09:14:16Z</dcterms:created>
  <dcterms:modified xsi:type="dcterms:W3CDTF">2026-09-19T01:22:58Z</dcterms:modified>
  <cp:category/>
</cp:coreProperties>
</file>